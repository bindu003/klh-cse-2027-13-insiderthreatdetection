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Lst>
  <p:notesMasterIdLst>
    <p:notesMasterId r:id="rId22"/>
  </p:notesMasterIdLst>
  <p:handoutMasterIdLst>
    <p:handoutMasterId r:id="rId23"/>
  </p:handoutMasterIdLst>
  <p:sldIdLst>
    <p:sldId id="338" r:id="rId3"/>
    <p:sldId id="322" r:id="rId4"/>
    <p:sldId id="351" r:id="rId5"/>
    <p:sldId id="357" r:id="rId6"/>
    <p:sldId id="350" r:id="rId7"/>
    <p:sldId id="360" r:id="rId8"/>
    <p:sldId id="361" r:id="rId9"/>
    <p:sldId id="362" r:id="rId10"/>
    <p:sldId id="363" r:id="rId11"/>
    <p:sldId id="364" r:id="rId12"/>
    <p:sldId id="365" r:id="rId13"/>
    <p:sldId id="353" r:id="rId14"/>
    <p:sldId id="354" r:id="rId15"/>
    <p:sldId id="366" r:id="rId16"/>
    <p:sldId id="358" r:id="rId17"/>
    <p:sldId id="359" r:id="rId18"/>
    <p:sldId id="355" r:id="rId19"/>
    <p:sldId id="356" r:id="rId20"/>
    <p:sldId id="332" r:id="rId21"/>
  </p:sldIdLst>
  <p:sldSz cx="12192000" cy="6858000"/>
  <p:notesSz cx="7102475" cy="9037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58"/>
    <p:restoredTop sz="95833"/>
  </p:normalViewPr>
  <p:slideViewPr>
    <p:cSldViewPr snapToGrid="0" snapToObjects="1">
      <p:cViewPr varScale="1">
        <p:scale>
          <a:sx n="78" d="100"/>
          <a:sy n="78" d="100"/>
        </p:scale>
        <p:origin x="730" y="7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023092" y="0"/>
            <a:ext cx="3077739" cy="453451"/>
          </a:xfrm>
          <a:prstGeom prst="rect">
            <a:avLst/>
          </a:prstGeom>
        </p:spPr>
        <p:txBody>
          <a:bodyPr vert="horz" lIns="91440" tIns="45720" rIns="91440" bIns="45720" rtlCol="0"/>
          <a:lstStyle>
            <a:lvl1pPr algn="r">
              <a:defRPr sz="1200"/>
            </a:lvl1pPr>
          </a:lstStyle>
          <a:p>
            <a:fld id="{469F6064-4237-BA4C-A655-B64A9E0DF723}" type="datetimeFigureOut">
              <a:rPr lang="en-US" smtClean="0"/>
              <a:t>8/31/2026</a:t>
            </a:fld>
            <a:endParaRPr lang="en-US"/>
          </a:p>
        </p:txBody>
      </p:sp>
      <p:sp>
        <p:nvSpPr>
          <p:cNvPr id="4" name="Footer Placeholder 3"/>
          <p:cNvSpPr>
            <a:spLocks noGrp="1"/>
          </p:cNvSpPr>
          <p:nvPr>
            <p:ph type="ftr" sz="quarter" idx="2"/>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023092" y="8584188"/>
            <a:ext cx="3077739" cy="453450"/>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p:cNvPicPr>
            <a:picLocks noChangeAspect="1"/>
          </p:cNvPicPr>
          <p:nvPr/>
        </p:nvPicPr>
        <p:blipFill>
          <a:blip r:embed="rId2"/>
          <a:stretch>
            <a:fillRect/>
          </a:stretch>
        </p:blipFill>
        <p:spPr>
          <a:xfrm>
            <a:off x="0" y="0"/>
            <a:ext cx="1156171" cy="453451"/>
          </a:xfrm>
          <a:prstGeom prst="rect">
            <a:avLst/>
          </a:prstGeom>
        </p:spPr>
      </p:pic>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8/31/2026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t>31-08-2026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t>31-08-2026</a:t>
            </a:fld>
            <a:endParaRPr lang="en-US"/>
          </a:p>
        </p:txBody>
      </p:sp>
      <p:sp>
        <p:nvSpPr>
          <p:cNvPr id="5" name="Footer Placeholder 4"/>
          <p:cNvSpPr>
            <a:spLocks noGrp="1"/>
          </p:cNvSpPr>
          <p:nvPr>
            <p:ph type="ftr" sz="quarter" idx="11"/>
          </p:nvPr>
        </p:nvSpPr>
        <p:spPr/>
        <p:txBody>
          <a:bodyPr/>
          <a:lstStyle/>
          <a:p>
            <a:r>
              <a:rPr lang="en-US" dirty="0"/>
              <a:t>REVIEW – 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31-08-2026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t>31-08-2026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t>31-08-2026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t>31-08-2026</a:t>
            </a:fld>
            <a:endParaRPr lang="en-US"/>
          </a:p>
        </p:txBody>
      </p:sp>
      <p:sp>
        <p:nvSpPr>
          <p:cNvPr id="4" name="Footer Placeholder 3"/>
          <p:cNvSpPr>
            <a:spLocks noGrp="1"/>
          </p:cNvSpPr>
          <p:nvPr>
            <p:ph type="ftr" sz="quarter" idx="11"/>
          </p:nvPr>
        </p:nvSpPr>
        <p:spPr/>
        <p:txBody>
          <a:bodyPr/>
          <a:lstStyle/>
          <a:p>
            <a:r>
              <a:rPr lang="en-US"/>
              <a:t>REVIEW – 1 / 2 / 3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t>31-08-2026</a:t>
            </a:fld>
            <a:endParaRPr lang="en-US"/>
          </a:p>
        </p:txBody>
      </p:sp>
      <p:sp>
        <p:nvSpPr>
          <p:cNvPr id="3" name="Footer Placeholder 2"/>
          <p:cNvSpPr>
            <a:spLocks noGrp="1"/>
          </p:cNvSpPr>
          <p:nvPr>
            <p:ph type="ftr" sz="quarter" idx="11"/>
          </p:nvPr>
        </p:nvSpPr>
        <p:spPr/>
        <p:txBody>
          <a:bodyPr/>
          <a:lstStyle/>
          <a:p>
            <a:r>
              <a:rPr lang="en-US"/>
              <a:t>REVIEW – 1 / 2 / 3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9DDB05C-DA09-D54E-BE90-A914E23C1D37}" type="datetime1">
              <a:rPr lang="en-IN" smtClean="0"/>
              <a:t>31-08-2026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DE2264A-0DD4-554E-9BAF-72F2B974B4C3}" type="datetime1">
              <a:rPr lang="en-IN" smtClean="0"/>
              <a:t>31-08-2026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t>31-08-2026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t>31-08-2026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31-08-2026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31-08-2026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31-08-2026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31-08-2026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31-08-2026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t>31-08-2026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REVIEW – 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31-08-2026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319609" y="595713"/>
            <a:ext cx="10515600" cy="982716"/>
          </a:xfrm>
        </p:spPr>
        <p:txBody>
          <a:bodyPr>
            <a:noAutofit/>
          </a:bodyPr>
          <a:lstStyle/>
          <a:p>
            <a:pPr algn="ctr">
              <a:lnSpc>
                <a:spcPct val="100000"/>
              </a:lnSpc>
            </a:pPr>
            <a:r>
              <a:rPr lang="da-DK" sz="2400" b="1" dirty="0">
                <a:solidFill>
                  <a:srgbClr val="FF0000"/>
                </a:solidFill>
                <a:latin typeface="Times New Roman" panose="02020603050405020304" pitchFamily="18" charset="0"/>
                <a:cs typeface="Times New Roman" panose="02020603050405020304" pitchFamily="18" charset="0"/>
              </a:rPr>
              <a:t>ENGINEERING CAPSTONE PROJECT – 1/INDUSTRIAL INTERNSHIP/ INDUSTRIAL INTERNSHIP PHASE-I</a:t>
            </a:r>
            <a:br>
              <a:rPr lang="da-DK" sz="2400" b="1" dirty="0">
                <a:latin typeface="Times New Roman" panose="02020603050405020304" pitchFamily="18" charset="0"/>
                <a:cs typeface="Times New Roman" panose="02020603050405020304" pitchFamily="18" charset="0"/>
              </a:rPr>
            </a:br>
            <a:r>
              <a:rPr lang="da-DK" sz="2400" b="1" dirty="0">
                <a:solidFill>
                  <a:srgbClr val="0070C0"/>
                </a:solidFill>
                <a:latin typeface="Times New Roman" panose="02020603050405020304" pitchFamily="18" charset="0"/>
                <a:cs typeface="Times New Roman" panose="02020603050405020304" pitchFamily="18" charset="0"/>
              </a:rPr>
              <a:t>Project Review-1</a:t>
            </a:r>
            <a:br>
              <a:rPr lang="en-US" sz="2400" b="1" dirty="0">
                <a:latin typeface="Times New Roman" panose="02020603050405020304" pitchFamily="18" charset="0"/>
                <a:cs typeface="Times New Roman" panose="02020603050405020304" pitchFamily="18" charset="0"/>
              </a:rPr>
            </a:br>
            <a:r>
              <a:rPr lang="en-IN" sz="2400" b="1" dirty="0">
                <a:solidFill>
                  <a:srgbClr val="00B050"/>
                </a:solidFill>
              </a:rPr>
              <a:t>AI-Driven Insider Threat Detection Through </a:t>
            </a:r>
            <a:r>
              <a:rPr lang="en-IN" sz="2400" b="1" dirty="0" err="1">
                <a:solidFill>
                  <a:srgbClr val="00B050"/>
                </a:solidFill>
              </a:rPr>
              <a:t>Behavioral</a:t>
            </a:r>
            <a:r>
              <a:rPr lang="en-IN" sz="2400" b="1" dirty="0">
                <a:solidFill>
                  <a:srgbClr val="00B050"/>
                </a:solidFill>
              </a:rPr>
              <a:t> Analytics and Attack Sequence Correlation</a:t>
            </a:r>
            <a:endParaRPr lang="en-US" altLang="en-US" sz="2400" b="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1112247" y="2014815"/>
            <a:ext cx="10355854" cy="2012612"/>
          </a:xfrm>
        </p:spPr>
        <p:txBody>
          <a:bodyPr>
            <a:noAutofit/>
          </a:bodyPr>
          <a:lstStyle/>
          <a:p>
            <a:pPr marL="0" indent="0" algn="ctr">
              <a:buNone/>
            </a:pPr>
            <a:r>
              <a:rPr lang="en-IN" sz="2000" b="1" dirty="0"/>
              <a:t>Team No-13</a:t>
            </a:r>
            <a:r>
              <a:rPr lang="en-IN" sz="2000" dirty="0"/>
              <a:t>  </a:t>
            </a:r>
            <a:endParaRPr lang="en-IN" sz="2000" b="1" dirty="0"/>
          </a:p>
          <a:p>
            <a:pPr marL="0" indent="0" algn="ctr">
              <a:buNone/>
            </a:pPr>
            <a:r>
              <a:rPr lang="en-IN" sz="2000" b="1" dirty="0"/>
              <a:t>Roll No		Name</a:t>
            </a:r>
            <a:endParaRPr lang="en-US" sz="2000" b="1" dirty="0"/>
          </a:p>
          <a:p>
            <a:pPr marL="0" indent="0" algn="ctr">
              <a:buNone/>
            </a:pPr>
            <a:r>
              <a:rPr lang="en-IN" sz="2000" dirty="0"/>
              <a:t>               2320030386              K. Bindu Madhavi</a:t>
            </a:r>
          </a:p>
          <a:p>
            <a:pPr marL="0" indent="0" algn="ctr">
              <a:buNone/>
            </a:pPr>
            <a:r>
              <a:rPr lang="en-IN" sz="2000" dirty="0"/>
              <a:t>              2320030393              V. Bhavish Reddy</a:t>
            </a:r>
          </a:p>
          <a:p>
            <a:pPr marL="0" indent="0" algn="ctr">
              <a:buNone/>
            </a:pPr>
            <a:r>
              <a:rPr lang="en-IN" sz="2000" dirty="0"/>
              <a:t>    2320030394              N. </a:t>
            </a:r>
            <a:r>
              <a:rPr lang="en-IN" sz="2000" dirty="0" err="1"/>
              <a:t>Tidiksha</a:t>
            </a:r>
            <a:endParaRPr lang="en-US" sz="2000" b="1" dirty="0"/>
          </a:p>
          <a:p>
            <a:pPr marL="0" indent="0" algn="ctr">
              <a:buNone/>
            </a:pPr>
            <a:endParaRPr lang="en-US" sz="1400" b="1" dirty="0"/>
          </a:p>
        </p:txBody>
      </p:sp>
      <p:sp>
        <p:nvSpPr>
          <p:cNvPr id="6" name="Date Placeholder 5"/>
          <p:cNvSpPr>
            <a:spLocks noGrp="1"/>
          </p:cNvSpPr>
          <p:nvPr>
            <p:ph type="dt" sz="half" idx="10"/>
          </p:nvPr>
        </p:nvSpPr>
        <p:spPr/>
        <p:txBody>
          <a:bodyPr/>
          <a:lstStyle/>
          <a:p>
            <a:fld id="{437923A7-D8E7-1742-AE5C-E3C19725FB52}" type="datetime1">
              <a:rPr lang="en-IN" smtClean="0"/>
              <a:t>31-08-2026</a:t>
            </a:fld>
            <a:endParaRPr lang="en-US"/>
          </a:p>
        </p:txBody>
      </p:sp>
      <p:sp>
        <p:nvSpPr>
          <p:cNvPr id="9" name="Content Placeholder 3"/>
          <p:cNvSpPr txBox="1"/>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961417" y="3679370"/>
            <a:ext cx="10515600" cy="1567544"/>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solidFill>
                  <a:srgbClr val="00B050"/>
                </a:solidFill>
              </a:rPr>
              <a:t>             </a:t>
            </a:r>
          </a:p>
          <a:p>
            <a:pPr marL="0" indent="0" algn="ctr">
              <a:buNone/>
            </a:pPr>
            <a:r>
              <a:rPr lang="en-US" sz="2600" dirty="0">
                <a:solidFill>
                  <a:srgbClr val="00B050"/>
                </a:solidFill>
              </a:rPr>
              <a:t>Under the Guidance of</a:t>
            </a:r>
          </a:p>
          <a:p>
            <a:pPr marL="0" indent="0" algn="ctr">
              <a:buNone/>
            </a:pPr>
            <a:r>
              <a:rPr lang="en-IN" sz="2600" dirty="0">
                <a:solidFill>
                  <a:srgbClr val="00B050"/>
                </a:solidFill>
              </a:rPr>
              <a:t>Dr. K Swapnika</a:t>
            </a:r>
          </a:p>
          <a:p>
            <a:pPr marL="0" indent="0" algn="ctr">
              <a:buNone/>
            </a:pPr>
            <a:r>
              <a:rPr lang="en-IN" sz="2600" dirty="0">
                <a:solidFill>
                  <a:srgbClr val="00B050"/>
                </a:solidFill>
              </a:rPr>
              <a:t>Assistant professor</a:t>
            </a:r>
          </a:p>
          <a:p>
            <a:pPr marL="0" indent="0" algn="ctr">
              <a:buNone/>
            </a:pPr>
            <a:r>
              <a:rPr lang="en-US" sz="2600" dirty="0">
                <a:solidFill>
                  <a:srgbClr val="00B050"/>
                </a:solidFill>
              </a:rPr>
              <a:t>Department of Computer Science and Engineering</a:t>
            </a:r>
          </a:p>
          <a:p>
            <a:pPr marL="0" indent="0">
              <a:buFont typeface="Arial" panose="020B0604020202020204" pitchFamily="34" charset="0"/>
              <a:buNone/>
            </a:pPr>
            <a:endParaRPr lang="en-US" sz="2400" dirty="0">
              <a:solidFill>
                <a:srgbClr val="00B050"/>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2395" y="5136862"/>
            <a:ext cx="2175809" cy="897941"/>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p:cNvSpPr>
            <a:spLocks noGrp="1"/>
          </p:cNvSpPr>
          <p:nvPr>
            <p:ph idx="1"/>
          </p:nvPr>
        </p:nvSpPr>
        <p:spPr>
          <a:xfrm>
            <a:off x="838200" y="1250731"/>
            <a:ext cx="10515600" cy="5002923"/>
          </a:xfrm>
        </p:spPr>
        <p:txBody>
          <a:bodyPr>
            <a:normAutofit/>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Problem Statement</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Objectives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Literature Survey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Research Gap Identification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Innovation, Creativity, and Novelty</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Feasibility and Project Plan</a:t>
            </a: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196CB346-A29B-614A-90B7-3F58220E4132}" type="datetime1">
              <a:rPr lang="en-IN" smtClean="0"/>
              <a:t>31-08-2026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a:lstStyle/>
          <a:p>
            <a:r>
              <a:rPr lang="en-US" dirty="0"/>
              <a:t>PRC-I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260158"/>
            <a:ext cx="10515600" cy="5002923"/>
          </a:xfrm>
        </p:spPr>
        <p:txBody>
          <a:bodyPr>
            <a:normAutofit/>
          </a:bodyPr>
          <a:lstStyle/>
          <a:p>
            <a:pPr marL="0" indent="0">
              <a:buNone/>
            </a:pPr>
            <a:endParaRPr lang="en-IN" sz="2000" dirty="0"/>
          </a:p>
          <a:p>
            <a:pPr marL="0" indent="0">
              <a:buNone/>
            </a:pPr>
            <a:r>
              <a:rPr lang="en-IN" sz="2000" dirty="0"/>
              <a:t>Insider threats represent one of the most dangerous cybersecurity risks organizations face today. Unlike external attackers, authorized users with legitimate credentials can silently misuse their access to compromise confidential information, systems, and critical organizational resources.</a:t>
            </a:r>
          </a:p>
          <a:p>
            <a:pPr marL="0" indent="0">
              <a:buNone/>
            </a:pPr>
            <a:r>
              <a:rPr lang="en-IN" sz="2000" dirty="0"/>
              <a:t>Traditional detection systems </a:t>
            </a:r>
            <a:r>
              <a:rPr lang="en-IN" sz="2000" dirty="0" err="1"/>
              <a:t>analyze</a:t>
            </a:r>
            <a:r>
              <a:rPr lang="en-IN" sz="2000" dirty="0"/>
              <a:t> individual anomalies in isolation — flagging unusual logins or excessive file downloads — but they fail to see the bigger picture: how a sequence of seemingly legitimate actions can constitute a coordinated insider attack.</a:t>
            </a:r>
          </a:p>
          <a:p>
            <a:r>
              <a:rPr lang="en-IN" sz="2000" b="1" dirty="0"/>
              <a:t>The Insider Threat Problem</a:t>
            </a:r>
          </a:p>
          <a:p>
            <a:pPr marL="0" indent="0">
              <a:buNone/>
            </a:pPr>
            <a:r>
              <a:rPr lang="en-IN" sz="2000" dirty="0"/>
              <a:t>Authorized users with legitimate access can become the most dangerous adversaries — invisible to perimeter </a:t>
            </a:r>
            <a:r>
              <a:rPr lang="en-IN" sz="2000" dirty="0" err="1"/>
              <a:t>defenses</a:t>
            </a:r>
            <a:r>
              <a:rPr lang="en-IN" sz="2000" dirty="0"/>
              <a:t>.</a:t>
            </a:r>
          </a:p>
          <a:p>
            <a:r>
              <a:rPr lang="en-IN" sz="2000" b="1" dirty="0"/>
              <a:t>Failure of Traditional Systems</a:t>
            </a:r>
          </a:p>
          <a:p>
            <a:pPr marL="0" indent="0">
              <a:buNone/>
            </a:pPr>
            <a:r>
              <a:rPr lang="en-IN" sz="2000" dirty="0"/>
              <a:t>Existing tools detect isolated anomalies but cannot correlate multiple related activities into a coherent threat narrative.</a:t>
            </a:r>
          </a:p>
          <a:p>
            <a:pPr marL="0" indent="0">
              <a:buNone/>
            </a:pPr>
            <a:endParaRPr lang="en-IN" sz="2000" dirty="0"/>
          </a:p>
          <a:p>
            <a:pPr marL="0" indent="0" eaLnBrk="0" fontAlgn="base" hangingPunct="0">
              <a:lnSpc>
                <a:spcPct val="100000"/>
              </a:lnSpc>
              <a:spcBef>
                <a:spcPct val="0"/>
              </a:spcBef>
              <a:spcAft>
                <a:spcPct val="0"/>
              </a:spcAft>
              <a:buNone/>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31-08-2026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3C34A4E9-B1D7-4F59-982A-7518E00546D4}"/>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011599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24174-E81B-4768-8B99-C41881EF5EA4}"/>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Problem Statement</a:t>
            </a:r>
            <a:endParaRPr lang="en-IN" dirty="0"/>
          </a:p>
        </p:txBody>
      </p:sp>
      <p:sp>
        <p:nvSpPr>
          <p:cNvPr id="3" name="Content Placeholder 2">
            <a:extLst>
              <a:ext uri="{FF2B5EF4-FFF2-40B4-BE49-F238E27FC236}">
                <a16:creationId xmlns:a16="http://schemas.microsoft.com/office/drawing/2014/main" id="{54E84203-8F93-4071-A37C-6A9C3BB16CA1}"/>
              </a:ext>
            </a:extLst>
          </p:cNvPr>
          <p:cNvSpPr>
            <a:spLocks noGrp="1"/>
          </p:cNvSpPr>
          <p:nvPr>
            <p:ph idx="1"/>
          </p:nvPr>
        </p:nvSpPr>
        <p:spPr>
          <a:xfrm>
            <a:off x="653142" y="1509939"/>
            <a:ext cx="10515600" cy="4351338"/>
          </a:xfrm>
        </p:spPr>
        <p:txBody>
          <a:bodyPr>
            <a:normAutofit/>
          </a:bodyPr>
          <a:lstStyle/>
          <a:p>
            <a:endParaRPr lang="en-IN" dirty="0"/>
          </a:p>
          <a:p>
            <a:pPr marL="0" indent="0">
              <a:buNone/>
            </a:pPr>
            <a:r>
              <a:rPr lang="en-IN" dirty="0"/>
              <a:t>Existing insider-threat detection methods often </a:t>
            </a:r>
            <a:r>
              <a:rPr lang="en-IN" dirty="0" err="1"/>
              <a:t>analyze</a:t>
            </a:r>
            <a:r>
              <a:rPr lang="en-IN" dirty="0"/>
              <a:t> user activities </a:t>
            </a:r>
            <a:r>
              <a:rPr lang="en-IN" dirty="0" err="1"/>
              <a:t>independently.They</a:t>
            </a:r>
            <a:r>
              <a:rPr lang="en-IN" dirty="0"/>
              <a:t> struggle to identify suspicious patterns formed by multiple actions over </a:t>
            </a:r>
            <a:r>
              <a:rPr lang="en-IN" dirty="0" err="1"/>
              <a:t>time.They</a:t>
            </a:r>
            <a:r>
              <a:rPr lang="en-IN" dirty="0"/>
              <a:t> also give limited importance to the sensitivity of accessed </a:t>
            </a:r>
            <a:r>
              <a:rPr lang="en-IN" dirty="0" err="1"/>
              <a:t>resources.This</a:t>
            </a:r>
            <a:r>
              <a:rPr lang="en-IN" dirty="0"/>
              <a:t> can result in delayed or missed detection of coordinated insider </a:t>
            </a:r>
            <a:r>
              <a:rPr lang="en-IN" dirty="0" err="1"/>
              <a:t>threats.Hence</a:t>
            </a:r>
            <a:r>
              <a:rPr lang="en-IN" dirty="0"/>
              <a:t>, existing ML techniques need to be applied to </a:t>
            </a:r>
            <a:r>
              <a:rPr lang="en-IN" dirty="0" err="1"/>
              <a:t>analyze</a:t>
            </a:r>
            <a:r>
              <a:rPr lang="en-IN" dirty="0"/>
              <a:t> </a:t>
            </a:r>
            <a:r>
              <a:rPr lang="en-IN" dirty="0" err="1"/>
              <a:t>behavioral</a:t>
            </a:r>
            <a:r>
              <a:rPr lang="en-IN" dirty="0"/>
              <a:t> patterns and identify potential threats.</a:t>
            </a:r>
          </a:p>
          <a:p>
            <a:pPr marL="0" indent="0" algn="just">
              <a:buNone/>
            </a:pPr>
            <a:endParaRPr lang="en-IN" dirty="0"/>
          </a:p>
        </p:txBody>
      </p:sp>
      <p:sp>
        <p:nvSpPr>
          <p:cNvPr id="4" name="Date Placeholder 3">
            <a:extLst>
              <a:ext uri="{FF2B5EF4-FFF2-40B4-BE49-F238E27FC236}">
                <a16:creationId xmlns:a16="http://schemas.microsoft.com/office/drawing/2014/main" id="{0D185FB1-B28D-4C1B-A7FA-1B6AE4E26B08}"/>
              </a:ext>
            </a:extLst>
          </p:cNvPr>
          <p:cNvSpPr>
            <a:spLocks noGrp="1"/>
          </p:cNvSpPr>
          <p:nvPr>
            <p:ph type="dt" sz="half" idx="10"/>
          </p:nvPr>
        </p:nvSpPr>
        <p:spPr>
          <a:xfrm>
            <a:off x="838200" y="6365777"/>
            <a:ext cx="2743200" cy="365125"/>
          </a:xfrm>
        </p:spPr>
        <p:txBody>
          <a:bodyPr/>
          <a:lstStyle/>
          <a:p>
            <a:fld id="{C7A4DE8B-8D6B-8C46-B882-6A2CD2BC96F0}" type="datetime1">
              <a:rPr lang="en-IN" smtClean="0"/>
              <a:t>31-08-2026</a:t>
            </a:fld>
            <a:endParaRPr lang="en-US"/>
          </a:p>
        </p:txBody>
      </p:sp>
      <p:sp>
        <p:nvSpPr>
          <p:cNvPr id="6" name="Slide Number Placeholder 5">
            <a:extLst>
              <a:ext uri="{FF2B5EF4-FFF2-40B4-BE49-F238E27FC236}">
                <a16:creationId xmlns:a16="http://schemas.microsoft.com/office/drawing/2014/main" id="{52C09634-64A3-451F-B3E1-F9F54FC12B45}"/>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7" name="Footer Placeholder 2">
            <a:extLst>
              <a:ext uri="{FF2B5EF4-FFF2-40B4-BE49-F238E27FC236}">
                <a16:creationId xmlns:a16="http://schemas.microsoft.com/office/drawing/2014/main" id="{D9CC9555-106F-46B4-BA3D-25EA6B87723C}"/>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1103198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F4ED40-408F-6A27-E4F0-6FCB8E7B6B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946B85-3126-D2FB-6BBE-D431774EDF2B}"/>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Objectives</a:t>
            </a:r>
            <a:r>
              <a:rPr lang="en-IN" dirty="0"/>
              <a:t> </a:t>
            </a:r>
          </a:p>
        </p:txBody>
      </p:sp>
      <p:sp>
        <p:nvSpPr>
          <p:cNvPr id="9" name="Content Placeholder 8">
            <a:extLst>
              <a:ext uri="{FF2B5EF4-FFF2-40B4-BE49-F238E27FC236}">
                <a16:creationId xmlns:a16="http://schemas.microsoft.com/office/drawing/2014/main" id="{207DCC41-9625-D8BE-ED8E-A41DE68AA126}"/>
              </a:ext>
            </a:extLst>
          </p:cNvPr>
          <p:cNvSpPr>
            <a:spLocks noGrp="1"/>
          </p:cNvSpPr>
          <p:nvPr>
            <p:ph idx="1"/>
          </p:nvPr>
        </p:nvSpPr>
        <p:spPr>
          <a:xfrm>
            <a:off x="838200" y="1250731"/>
            <a:ext cx="10515600" cy="5002923"/>
          </a:xfrm>
        </p:spPr>
        <p:txBody>
          <a:bodyPr>
            <a:normAutofit/>
          </a:bodyPr>
          <a:lstStyle/>
          <a:p>
            <a:endParaRPr lang="en-IN" sz="2000" dirty="0"/>
          </a:p>
          <a:p>
            <a:r>
              <a:rPr lang="en-IN" dirty="0"/>
              <a:t>To develop a framework using </a:t>
            </a:r>
            <a:r>
              <a:rPr lang="en-IN" dirty="0" err="1"/>
              <a:t>behavioral</a:t>
            </a:r>
            <a:r>
              <a:rPr lang="en-IN" dirty="0"/>
              <a:t> and temporal analysis techniques to correlate user activities and assess resource sensitivity for identifying potential insider threats.</a:t>
            </a:r>
          </a:p>
          <a:p>
            <a:r>
              <a:rPr lang="en-IN" dirty="0"/>
              <a:t>To apply dynamic risk scoring by combining </a:t>
            </a:r>
            <a:r>
              <a:rPr lang="en-IN" dirty="0" err="1"/>
              <a:t>behavioral</a:t>
            </a:r>
            <a:r>
              <a:rPr lang="en-IN" dirty="0"/>
              <a:t> anomalies, attack-sequence information, and resource impact.</a:t>
            </a:r>
          </a:p>
          <a:p>
            <a:r>
              <a:rPr lang="en-IN" dirty="0"/>
              <a:t>To integrate </a:t>
            </a:r>
            <a:r>
              <a:rPr lang="en-IN" dirty="0" err="1"/>
              <a:t>behavioral</a:t>
            </a:r>
            <a:r>
              <a:rPr lang="en-IN" dirty="0"/>
              <a:t> analysis, attack-sequence correlation, resource sensitivity, dynamic risk scoring, and explainability into a unified insider-threat detection framework.</a:t>
            </a:r>
          </a:p>
          <a:p>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47AB615F-134B-83C4-E306-B5062B74B49D}"/>
              </a:ext>
            </a:extLst>
          </p:cNvPr>
          <p:cNvSpPr>
            <a:spLocks noGrp="1"/>
          </p:cNvSpPr>
          <p:nvPr>
            <p:ph type="dt" sz="half" idx="10"/>
          </p:nvPr>
        </p:nvSpPr>
        <p:spPr/>
        <p:txBody>
          <a:bodyPr/>
          <a:lstStyle/>
          <a:p>
            <a:fld id="{196CB346-A29B-614A-90B7-3F58220E4132}" type="datetime1">
              <a:rPr lang="en-IN" smtClean="0"/>
              <a:t>31-08-2026</a:t>
            </a:fld>
            <a:endParaRPr lang="en-US"/>
          </a:p>
        </p:txBody>
      </p:sp>
      <p:sp>
        <p:nvSpPr>
          <p:cNvPr id="7" name="Slide Number Placeholder 6">
            <a:extLst>
              <a:ext uri="{FF2B5EF4-FFF2-40B4-BE49-F238E27FC236}">
                <a16:creationId xmlns:a16="http://schemas.microsoft.com/office/drawing/2014/main" id="{56B58078-A2DB-3337-E1DB-4073478F184D}"/>
              </a:ext>
            </a:extLst>
          </p:cNvPr>
          <p:cNvSpPr>
            <a:spLocks noGrp="1"/>
          </p:cNvSpPr>
          <p:nvPr>
            <p:ph type="sldNum" sz="quarter" idx="12"/>
          </p:nvPr>
        </p:nvSpPr>
        <p:spPr/>
        <p:txBody>
          <a:bodyPr/>
          <a:lstStyle/>
          <a:p>
            <a:fld id="{B961B71F-4B40-8942-BB88-E0F5C0B46E10}" type="slidenum">
              <a:rPr lang="en-US" smtClean="0"/>
              <a:t>5</a:t>
            </a:fld>
            <a:endParaRPr lang="en-US"/>
          </a:p>
        </p:txBody>
      </p:sp>
      <p:pic>
        <p:nvPicPr>
          <p:cNvPr id="2" name="Picture 1">
            <a:extLst>
              <a:ext uri="{FF2B5EF4-FFF2-40B4-BE49-F238E27FC236}">
                <a16:creationId xmlns:a16="http://schemas.microsoft.com/office/drawing/2014/main" id="{3635B6A2-90DB-9DF8-4F42-DFC3BA3D4CDC}"/>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53D0FDF3-DB89-46A2-B389-76810F8CAAF1}"/>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4008404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37160" y="73152"/>
            <a:ext cx="11841480" cy="502920"/>
          </a:xfrm>
          <a:prstGeom prst="rect">
            <a:avLst/>
          </a:prstGeom>
          <a:noFill/>
        </p:spPr>
        <p:txBody>
          <a:bodyPr wrap="none">
            <a:spAutoFit/>
          </a:bodyPr>
          <a:lstStyle/>
          <a:p>
            <a:pPr algn="ctr"/>
            <a:r>
              <a:rPr sz="2200" b="1">
                <a:latin typeface="Times New Roman"/>
              </a:rPr>
              <a:t>Literature Survey – Papers 1–3</a:t>
            </a:r>
          </a:p>
        </p:txBody>
      </p:sp>
      <p:graphicFrame>
        <p:nvGraphicFramePr>
          <p:cNvPr id="3" name="Table 2"/>
          <p:cNvGraphicFramePr>
            <a:graphicFrameLocks noGrp="1"/>
          </p:cNvGraphicFramePr>
          <p:nvPr>
            <p:extLst>
              <p:ext uri="{D42A27DB-BD31-4B8C-83A1-F6EECF244321}">
                <p14:modId xmlns:p14="http://schemas.microsoft.com/office/powerpoint/2010/main" val="2946843666"/>
              </p:ext>
            </p:extLst>
          </p:nvPr>
        </p:nvGraphicFramePr>
        <p:xfrm>
          <a:off x="73152" y="658368"/>
          <a:ext cx="12084367" cy="5897880"/>
        </p:xfrm>
        <a:graphic>
          <a:graphicData uri="http://schemas.openxmlformats.org/drawingml/2006/table">
            <a:tbl>
              <a:tblPr firstRow="1" bandRow="1">
                <a:tableStyleId>{5940675A-B579-460E-94D1-54222C63F5DA}</a:tableStyleId>
              </a:tblPr>
              <a:tblGrid>
                <a:gridCol w="425767">
                  <a:extLst>
                    <a:ext uri="{9D8B030D-6E8A-4147-A177-3AD203B41FA5}">
                      <a16:colId xmlns:a16="http://schemas.microsoft.com/office/drawing/2014/main" val="20000"/>
                    </a:ext>
                  </a:extLst>
                </a:gridCol>
                <a:gridCol w="566928">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389888">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gridCol w="822960">
                  <a:extLst>
                    <a:ext uri="{9D8B030D-6E8A-4147-A177-3AD203B41FA5}">
                      <a16:colId xmlns:a16="http://schemas.microsoft.com/office/drawing/2014/main" val="20007"/>
                    </a:ext>
                  </a:extLst>
                </a:gridCol>
                <a:gridCol w="1005840">
                  <a:extLst>
                    <a:ext uri="{9D8B030D-6E8A-4147-A177-3AD203B41FA5}">
                      <a16:colId xmlns:a16="http://schemas.microsoft.com/office/drawing/2014/main" val="20008"/>
                    </a:ext>
                  </a:extLst>
                </a:gridCol>
                <a:gridCol w="1143000">
                  <a:extLst>
                    <a:ext uri="{9D8B030D-6E8A-4147-A177-3AD203B41FA5}">
                      <a16:colId xmlns:a16="http://schemas.microsoft.com/office/drawing/2014/main" val="20009"/>
                    </a:ext>
                  </a:extLst>
                </a:gridCol>
                <a:gridCol w="1234440">
                  <a:extLst>
                    <a:ext uri="{9D8B030D-6E8A-4147-A177-3AD203B41FA5}">
                      <a16:colId xmlns:a16="http://schemas.microsoft.com/office/drawing/2014/main" val="20010"/>
                    </a:ext>
                  </a:extLst>
                </a:gridCol>
                <a:gridCol w="1335024">
                  <a:extLst>
                    <a:ext uri="{9D8B030D-6E8A-4147-A177-3AD203B41FA5}">
                      <a16:colId xmlns:a16="http://schemas.microsoft.com/office/drawing/2014/main" val="20011"/>
                    </a:ext>
                  </a:extLst>
                </a:gridCol>
              </a:tblGrid>
              <a:tr h="1474470">
                <a:tc>
                  <a:txBody>
                    <a:bodyPr/>
                    <a:lstStyle/>
                    <a:p>
                      <a:pPr algn="ctr"/>
                      <a:r>
                        <a:rPr sz="1000" b="1" dirty="0" err="1"/>
                        <a:t>Sl</a:t>
                      </a:r>
                      <a:r>
                        <a:rPr sz="1000" b="1" dirty="0"/>
                        <a:t> No</a:t>
                      </a:r>
                      <a:endParaRPr sz="1000" b="1" dirty="0">
                        <a:latin typeface="Times New Roman"/>
                      </a:endParaRPr>
                    </a:p>
                  </a:txBody>
                  <a:tcPr anchor="ctr"/>
                </a:tc>
                <a:tc>
                  <a:txBody>
                    <a:bodyPr/>
                    <a:lstStyle/>
                    <a:p>
                      <a:pPr algn="ctr"/>
                      <a:r>
                        <a:rPr sz="1000" b="1" dirty="0"/>
                        <a:t>Year</a:t>
                      </a:r>
                    </a:p>
                    <a:p>
                      <a:pPr algn="ctr"/>
                      <a:r>
                        <a:rPr sz="1000" b="1" dirty="0"/>
                        <a:t>(2020 onwards</a:t>
                      </a:r>
                    </a:p>
                    <a:p>
                      <a:pPr algn="ctr"/>
                      <a:r>
                        <a:rPr sz="1000" b="1" dirty="0"/>
                        <a:t>papers)</a:t>
                      </a:r>
                      <a:endParaRPr sz="1000" b="1" dirty="0">
                        <a:latin typeface="Times New Roman"/>
                      </a:endParaRPr>
                    </a:p>
                  </a:txBody>
                  <a:tcPr anchor="ctr"/>
                </a:tc>
                <a:tc>
                  <a:txBody>
                    <a:bodyPr/>
                    <a:lstStyle/>
                    <a:p>
                      <a:pPr algn="ctr"/>
                      <a:r>
                        <a:rPr sz="1000" b="1" dirty="0"/>
                        <a:t>Authors</a:t>
                      </a:r>
                      <a:endParaRPr sz="1000" b="1" dirty="0">
                        <a:latin typeface="Times New Roman"/>
                      </a:endParaRPr>
                    </a:p>
                  </a:txBody>
                  <a:tcPr anchor="ctr"/>
                </a:tc>
                <a:tc>
                  <a:txBody>
                    <a:bodyPr/>
                    <a:lstStyle/>
                    <a:p>
                      <a:pPr algn="ctr"/>
                      <a:r>
                        <a:rPr sz="1000" b="1" dirty="0"/>
                        <a:t>Title of the paper</a:t>
                      </a:r>
                      <a:endParaRPr sz="1000" b="1" dirty="0">
                        <a:latin typeface="Times New Roman"/>
                      </a:endParaRPr>
                    </a:p>
                  </a:txBody>
                  <a:tcPr anchor="ctr"/>
                </a:tc>
                <a:tc>
                  <a:txBody>
                    <a:bodyPr/>
                    <a:lstStyle/>
                    <a:p>
                      <a:pPr algn="ctr"/>
                      <a:r>
                        <a:rPr sz="1000" b="1" dirty="0"/>
                        <a:t>Source (Journal/</a:t>
                      </a:r>
                    </a:p>
                    <a:p>
                      <a:pPr algn="ctr"/>
                      <a:r>
                        <a:rPr sz="1000" b="1" dirty="0"/>
                        <a:t>Conference name)</a:t>
                      </a:r>
                      <a:endParaRPr sz="1000" b="1" dirty="0">
                        <a:latin typeface="Times New Roman"/>
                      </a:endParaRPr>
                    </a:p>
                  </a:txBody>
                  <a:tcPr anchor="ctr"/>
                </a:tc>
                <a:tc>
                  <a:txBody>
                    <a:bodyPr/>
                    <a:lstStyle/>
                    <a:p>
                      <a:pPr algn="ctr"/>
                      <a:r>
                        <a:rPr sz="1000" b="1" dirty="0"/>
                        <a:t>Objective of the paper</a:t>
                      </a:r>
                      <a:endParaRPr sz="1000" b="1" dirty="0">
                        <a:latin typeface="Times New Roman"/>
                      </a:endParaRPr>
                    </a:p>
                  </a:txBody>
                  <a:tcPr anchor="ctr"/>
                </a:tc>
                <a:tc>
                  <a:txBody>
                    <a:bodyPr/>
                    <a:lstStyle/>
                    <a:p>
                      <a:pPr algn="ctr"/>
                      <a:r>
                        <a:rPr sz="1000" b="1" dirty="0"/>
                        <a:t>Techniques Used</a:t>
                      </a:r>
                      <a:endParaRPr sz="1000" b="1" dirty="0">
                        <a:latin typeface="Times New Roman"/>
                      </a:endParaRPr>
                    </a:p>
                  </a:txBody>
                  <a:tcPr anchor="ctr"/>
                </a:tc>
                <a:tc>
                  <a:txBody>
                    <a:bodyPr/>
                    <a:lstStyle/>
                    <a:p>
                      <a:pPr algn="ctr"/>
                      <a:r>
                        <a:rPr sz="1000" b="1" dirty="0"/>
                        <a:t>Dataset Used</a:t>
                      </a:r>
                      <a:endParaRPr sz="1000" b="1" dirty="0">
                        <a:latin typeface="Times New Roman"/>
                      </a:endParaRPr>
                    </a:p>
                  </a:txBody>
                  <a:tcPr anchor="ctr"/>
                </a:tc>
                <a:tc>
                  <a:txBody>
                    <a:bodyPr/>
                    <a:lstStyle/>
                    <a:p>
                      <a:pPr algn="ctr"/>
                      <a:r>
                        <a:rPr sz="1000" b="1" dirty="0"/>
                        <a:t>Parameters </a:t>
                      </a:r>
                      <a:r>
                        <a:rPr sz="1000" b="1" dirty="0" err="1"/>
                        <a:t>Analysed</a:t>
                      </a:r>
                      <a:endParaRPr sz="1000" b="1" dirty="0">
                        <a:latin typeface="Times New Roman"/>
                      </a:endParaRPr>
                    </a:p>
                  </a:txBody>
                  <a:tcPr anchor="ctr"/>
                </a:tc>
                <a:tc>
                  <a:txBody>
                    <a:bodyPr/>
                    <a:lstStyle/>
                    <a:p>
                      <a:pPr algn="ctr"/>
                      <a:r>
                        <a:rPr sz="1000" b="1" dirty="0"/>
                        <a:t>Research Inference</a:t>
                      </a:r>
                      <a:endParaRPr sz="1000" b="1" dirty="0">
                        <a:latin typeface="Times New Roman"/>
                      </a:endParaRPr>
                    </a:p>
                  </a:txBody>
                  <a:tcPr anchor="ctr"/>
                </a:tc>
                <a:tc>
                  <a:txBody>
                    <a:bodyPr/>
                    <a:lstStyle/>
                    <a:p>
                      <a:pPr algn="ctr"/>
                      <a:r>
                        <a:rPr sz="1000" b="1" dirty="0"/>
                        <a:t>Research Gap</a:t>
                      </a:r>
                      <a:endParaRPr sz="1000" b="1" dirty="0">
                        <a:latin typeface="Times New Roman"/>
                      </a:endParaRPr>
                    </a:p>
                  </a:txBody>
                  <a:tcPr anchor="ctr"/>
                </a:tc>
                <a:tc>
                  <a:txBody>
                    <a:bodyPr/>
                    <a:lstStyle/>
                    <a:p>
                      <a:pPr algn="ctr"/>
                      <a:r>
                        <a:rPr sz="1000" b="1" dirty="0"/>
                        <a:t>DOI of the paper</a:t>
                      </a:r>
                      <a:endParaRPr sz="1000" b="1" dirty="0">
                        <a:latin typeface="Times New Roman"/>
                      </a:endParaRPr>
                    </a:p>
                  </a:txBody>
                  <a:tcPr anchor="ctr"/>
                </a:tc>
                <a:extLst>
                  <a:ext uri="{0D108BD9-81ED-4DB2-BD59-A6C34878D82A}">
                    <a16:rowId xmlns:a16="http://schemas.microsoft.com/office/drawing/2014/main" val="10000"/>
                  </a:ext>
                </a:extLst>
              </a:tr>
              <a:tr h="1474470">
                <a:tc>
                  <a:txBody>
                    <a:bodyPr/>
                    <a:lstStyle/>
                    <a:p>
                      <a:pPr algn="l"/>
                      <a:r>
                        <a:rPr sz="1000" b="0" dirty="0"/>
                        <a:t>1</a:t>
                      </a:r>
                      <a:endParaRPr sz="1000" b="0" dirty="0">
                        <a:latin typeface="Times New Roman"/>
                      </a:endParaRPr>
                    </a:p>
                  </a:txBody>
                  <a:tcPr marL="22860" marR="22860" marT="22860" marB="18288"/>
                </a:tc>
                <a:tc>
                  <a:txBody>
                    <a:bodyPr/>
                    <a:lstStyle/>
                    <a:p>
                      <a:pPr algn="l"/>
                      <a:r>
                        <a:rPr sz="1000" b="0" dirty="0"/>
                        <a:t>2020</a:t>
                      </a:r>
                      <a:endParaRPr sz="1000" b="0" dirty="0">
                        <a:latin typeface="Times New Roman"/>
                      </a:endParaRPr>
                    </a:p>
                  </a:txBody>
                  <a:tcPr marL="22860" marR="22860" marT="22860" marB="18288"/>
                </a:tc>
                <a:tc>
                  <a:txBody>
                    <a:bodyPr/>
                    <a:lstStyle/>
                    <a:p>
                      <a:pPr algn="l"/>
                      <a:r>
                        <a:rPr sz="1000" b="0" dirty="0"/>
                        <a:t>M. N. Al-</a:t>
                      </a:r>
                      <a:r>
                        <a:rPr sz="1000" b="0" dirty="0" err="1"/>
                        <a:t>Mhiqani</a:t>
                      </a:r>
                      <a:r>
                        <a:rPr sz="1000" b="0" dirty="0"/>
                        <a:t> et al.</a:t>
                      </a:r>
                      <a:endParaRPr sz="1000" b="0" dirty="0">
                        <a:latin typeface="Times New Roman"/>
                      </a:endParaRPr>
                    </a:p>
                  </a:txBody>
                  <a:tcPr marL="22860" marR="22860" marT="22860" marB="18288"/>
                </a:tc>
                <a:tc>
                  <a:txBody>
                    <a:bodyPr/>
                    <a:lstStyle/>
                    <a:p>
                      <a:pPr algn="l"/>
                      <a:r>
                        <a:rPr sz="1000" b="0" dirty="0"/>
                        <a:t>A Review of Insider Threat Detection: Classification, Machine Learning Techniques, Datasets, Open Challenges, and Recommendations</a:t>
                      </a:r>
                      <a:endParaRPr sz="1000" b="0" dirty="0">
                        <a:latin typeface="Times New Roman"/>
                      </a:endParaRPr>
                    </a:p>
                  </a:txBody>
                  <a:tcPr marL="22860" marR="22860" marT="22860" marB="18288"/>
                </a:tc>
                <a:tc>
                  <a:txBody>
                    <a:bodyPr/>
                    <a:lstStyle/>
                    <a:p>
                      <a:pPr algn="l"/>
                      <a:r>
                        <a:rPr sz="1000" b="0" dirty="0"/>
                        <a:t>Applied Sciences</a:t>
                      </a:r>
                      <a:endParaRPr sz="1000" b="0" dirty="0">
                        <a:latin typeface="Times New Roman"/>
                      </a:endParaRPr>
                    </a:p>
                  </a:txBody>
                  <a:tcPr marL="22860" marR="22860" marT="22860" marB="18288"/>
                </a:tc>
                <a:tc>
                  <a:txBody>
                    <a:bodyPr/>
                    <a:lstStyle/>
                    <a:p>
                      <a:pPr algn="l"/>
                      <a:r>
                        <a:rPr sz="1000" b="0" dirty="0"/>
                        <a:t>Review insider-threat detection approaches, ML techniques, datasets, challenges and future directions.</a:t>
                      </a:r>
                      <a:endParaRPr sz="1000" b="0" dirty="0">
                        <a:latin typeface="Times New Roman"/>
                      </a:endParaRPr>
                    </a:p>
                  </a:txBody>
                  <a:tcPr marL="22860" marR="22860" marT="22860" marB="18288"/>
                </a:tc>
                <a:tc>
                  <a:txBody>
                    <a:bodyPr/>
                    <a:lstStyle/>
                    <a:p>
                      <a:pPr algn="l"/>
                      <a:r>
                        <a:rPr sz="1000" b="0" dirty="0"/>
                        <a:t>ML classification; anomaly detection; supervised/unsupervised learning</a:t>
                      </a:r>
                      <a:endParaRPr sz="1000" b="0" dirty="0">
                        <a:latin typeface="Times New Roman"/>
                      </a:endParaRPr>
                    </a:p>
                  </a:txBody>
                  <a:tcPr marL="22860" marR="22860" marT="22860" marB="18288"/>
                </a:tc>
                <a:tc>
                  <a:txBody>
                    <a:bodyPr/>
                    <a:lstStyle/>
                    <a:p>
                      <a:pPr algn="l"/>
                      <a:r>
                        <a:rPr sz="1000" b="0" dirty="0"/>
                        <a:t>Multiple insider-threat datasets including CERT</a:t>
                      </a:r>
                      <a:endParaRPr sz="1000" b="0" dirty="0">
                        <a:latin typeface="Times New Roman"/>
                      </a:endParaRPr>
                    </a:p>
                  </a:txBody>
                  <a:tcPr marL="22860" marR="22860" marT="22860" marB="18288"/>
                </a:tc>
                <a:tc>
                  <a:txBody>
                    <a:bodyPr/>
                    <a:lstStyle/>
                    <a:p>
                      <a:pPr algn="l"/>
                      <a:r>
                        <a:rPr sz="1000" b="0" dirty="0"/>
                        <a:t>Detection methods; ML techniques; datasets; challenges; performance</a:t>
                      </a:r>
                      <a:endParaRPr sz="1000" b="0" dirty="0">
                        <a:latin typeface="Times New Roman"/>
                      </a:endParaRPr>
                    </a:p>
                  </a:txBody>
                  <a:tcPr marL="22860" marR="22860" marT="22860" marB="18288"/>
                </a:tc>
                <a:tc>
                  <a:txBody>
                    <a:bodyPr/>
                    <a:lstStyle/>
                    <a:p>
                      <a:pPr algn="l"/>
                      <a:r>
                        <a:rPr sz="1000" b="0" dirty="0"/>
                        <a:t>ML and behavioral analysis are promising, but data imbalance, feature selection and realistic-dataset limitations remain.</a:t>
                      </a:r>
                      <a:endParaRPr sz="1000" b="0" dirty="0">
                        <a:latin typeface="Times New Roman"/>
                      </a:endParaRPr>
                    </a:p>
                  </a:txBody>
                  <a:tcPr marL="22860" marR="22860" marT="22860" marB="18288"/>
                </a:tc>
                <a:tc>
                  <a:txBody>
                    <a:bodyPr/>
                    <a:lstStyle/>
                    <a:p>
                      <a:pPr algn="l"/>
                      <a:r>
                        <a:rPr sz="1000" b="0" dirty="0"/>
                        <a:t>No unified system combining sequential activity correlation, resource sensitivity, dynamic risk scoring and explainable alerts.</a:t>
                      </a:r>
                      <a:endParaRPr sz="1000" b="0" dirty="0">
                        <a:latin typeface="Times New Roman"/>
                      </a:endParaRPr>
                    </a:p>
                  </a:txBody>
                  <a:tcPr marL="22860" marR="22860" marT="22860" marB="18288"/>
                </a:tc>
                <a:tc>
                  <a:txBody>
                    <a:bodyPr/>
                    <a:lstStyle/>
                    <a:p>
                      <a:pPr algn="l"/>
                      <a:r>
                        <a:rPr sz="1000" b="0" dirty="0"/>
                        <a:t>10.3390/app10155208</a:t>
                      </a:r>
                      <a:endParaRPr sz="1000" b="0" dirty="0">
                        <a:latin typeface="Times New Roman"/>
                      </a:endParaRPr>
                    </a:p>
                  </a:txBody>
                  <a:tcPr marL="22860" marR="22860" marT="22860" marB="18288"/>
                </a:tc>
                <a:extLst>
                  <a:ext uri="{0D108BD9-81ED-4DB2-BD59-A6C34878D82A}">
                    <a16:rowId xmlns:a16="http://schemas.microsoft.com/office/drawing/2014/main" val="10001"/>
                  </a:ext>
                </a:extLst>
              </a:tr>
              <a:tr h="1474470">
                <a:tc>
                  <a:txBody>
                    <a:bodyPr/>
                    <a:lstStyle/>
                    <a:p>
                      <a:pPr algn="l"/>
                      <a:r>
                        <a:rPr sz="1000" b="0"/>
                        <a:t>2</a:t>
                      </a:r>
                      <a:endParaRPr sz="1000" b="0">
                        <a:latin typeface="Times New Roman"/>
                      </a:endParaRPr>
                    </a:p>
                  </a:txBody>
                  <a:tcPr marL="22860" marR="22860" marT="22860" marB="18288"/>
                </a:tc>
                <a:tc>
                  <a:txBody>
                    <a:bodyPr/>
                    <a:lstStyle/>
                    <a:p>
                      <a:pPr algn="l"/>
                      <a:r>
                        <a:rPr sz="1000" b="0"/>
                        <a:t>2020</a:t>
                      </a:r>
                      <a:endParaRPr sz="1000" b="0">
                        <a:latin typeface="Times New Roman"/>
                      </a:endParaRPr>
                    </a:p>
                  </a:txBody>
                  <a:tcPr marL="22860" marR="22860" marT="22860" marB="18288"/>
                </a:tc>
                <a:tc>
                  <a:txBody>
                    <a:bodyPr/>
                    <a:lstStyle/>
                    <a:p>
                      <a:pPr algn="l"/>
                      <a:r>
                        <a:rPr sz="1000" b="0"/>
                        <a:t>Duc C. Le, Nur Zincir-Heywood, Malcolm I. Heywood</a:t>
                      </a:r>
                      <a:endParaRPr sz="1000" b="0">
                        <a:latin typeface="Times New Roman"/>
                      </a:endParaRPr>
                    </a:p>
                  </a:txBody>
                  <a:tcPr marL="22860" marR="22860" marT="22860" marB="18288"/>
                </a:tc>
                <a:tc>
                  <a:txBody>
                    <a:bodyPr/>
                    <a:lstStyle/>
                    <a:p>
                      <a:pPr algn="l"/>
                      <a:r>
                        <a:rPr sz="1000" b="0"/>
                        <a:t>Analyzing Data Granularity Levels for Insider Threat Detection Using Machine Learning</a:t>
                      </a:r>
                      <a:endParaRPr sz="1000" b="0">
                        <a:latin typeface="Times New Roman"/>
                      </a:endParaRPr>
                    </a:p>
                  </a:txBody>
                  <a:tcPr marL="22860" marR="22860" marT="22860" marB="18288"/>
                </a:tc>
                <a:tc>
                  <a:txBody>
                    <a:bodyPr/>
                    <a:lstStyle/>
                    <a:p>
                      <a:pPr algn="l"/>
                      <a:r>
                        <a:rPr sz="1000" b="0"/>
                        <a:t>IEEE Transactions on Network and Service Management</a:t>
                      </a:r>
                      <a:endParaRPr sz="1000" b="0">
                        <a:latin typeface="Times New Roman"/>
                      </a:endParaRPr>
                    </a:p>
                  </a:txBody>
                  <a:tcPr marL="22860" marR="22860" marT="22860" marB="18288"/>
                </a:tc>
                <a:tc>
                  <a:txBody>
                    <a:bodyPr/>
                    <a:lstStyle/>
                    <a:p>
                      <a:pPr algn="l"/>
                      <a:r>
                        <a:rPr sz="1000" b="0"/>
                        <a:t>Evaluate insider-threat detection at different behavioral-data granularity levels.</a:t>
                      </a:r>
                      <a:endParaRPr sz="1000" b="0">
                        <a:latin typeface="Times New Roman"/>
                      </a:endParaRPr>
                    </a:p>
                  </a:txBody>
                  <a:tcPr marL="22860" marR="22860" marT="22860" marB="18288"/>
                </a:tc>
                <a:tc>
                  <a:txBody>
                    <a:bodyPr/>
                    <a:lstStyle/>
                    <a:p>
                      <a:pPr algn="l"/>
                      <a:r>
                        <a:rPr sz="1000" b="0"/>
                        <a:t>Machine learning; user-centered classification</a:t>
                      </a:r>
                      <a:endParaRPr sz="1000" b="0">
                        <a:latin typeface="Times New Roman"/>
                      </a:endParaRPr>
                    </a:p>
                  </a:txBody>
                  <a:tcPr marL="22860" marR="22860" marT="22860" marB="18288"/>
                </a:tc>
                <a:tc>
                  <a:txBody>
                    <a:bodyPr/>
                    <a:lstStyle/>
                    <a:p>
                      <a:pPr algn="l"/>
                      <a:r>
                        <a:rPr sz="1000" b="0"/>
                        <a:t>CERT Insider Threat Dataset</a:t>
                      </a:r>
                      <a:endParaRPr sz="1000" b="0">
                        <a:latin typeface="Times New Roman"/>
                      </a:endParaRPr>
                    </a:p>
                  </a:txBody>
                  <a:tcPr marL="22860" marR="22860" marT="22860" marB="18288"/>
                </a:tc>
                <a:tc>
                  <a:txBody>
                    <a:bodyPr/>
                    <a:lstStyle/>
                    <a:p>
                      <a:pPr algn="l"/>
                      <a:r>
                        <a:rPr sz="1000" b="0"/>
                        <a:t>User behavior; data granularity; malicious activity; detection performance</a:t>
                      </a:r>
                      <a:endParaRPr sz="1000" b="0">
                        <a:latin typeface="Times New Roman"/>
                      </a:endParaRPr>
                    </a:p>
                  </a:txBody>
                  <a:tcPr marL="22860" marR="22860" marT="22860" marB="18288"/>
                </a:tc>
                <a:tc>
                  <a:txBody>
                    <a:bodyPr/>
                    <a:lstStyle/>
                    <a:p>
                      <a:pPr algn="l"/>
                      <a:r>
                        <a:rPr sz="1000" b="0"/>
                        <a:t>Behavioral-data granularity affects insider-threat detection performance.</a:t>
                      </a:r>
                      <a:endParaRPr sz="1000" b="0">
                        <a:latin typeface="Times New Roman"/>
                      </a:endParaRPr>
                    </a:p>
                  </a:txBody>
                  <a:tcPr marL="22860" marR="22860" marT="22860" marB="18288"/>
                </a:tc>
                <a:tc>
                  <a:txBody>
                    <a:bodyPr/>
                    <a:lstStyle/>
                    <a:p>
                      <a:pPr algn="l"/>
                      <a:r>
                        <a:rPr sz="1000" b="0"/>
                        <a:t>Does not combine multiple activities into attack sequences or incorporate resource sensitivity and explainable risk scoring.</a:t>
                      </a:r>
                      <a:endParaRPr sz="1000" b="0">
                        <a:latin typeface="Times New Roman"/>
                      </a:endParaRPr>
                    </a:p>
                  </a:txBody>
                  <a:tcPr marL="22860" marR="22860" marT="22860" marB="18288"/>
                </a:tc>
                <a:tc>
                  <a:txBody>
                    <a:bodyPr/>
                    <a:lstStyle/>
                    <a:p>
                      <a:pPr algn="l"/>
                      <a:r>
                        <a:rPr sz="1000" b="0" dirty="0"/>
                        <a:t>10.1109/TNSM.2020.2967721</a:t>
                      </a:r>
                      <a:endParaRPr sz="1000" b="0" dirty="0">
                        <a:latin typeface="Times New Roman"/>
                      </a:endParaRPr>
                    </a:p>
                  </a:txBody>
                  <a:tcPr marL="22860" marR="22860" marT="22860" marB="18288"/>
                </a:tc>
                <a:extLst>
                  <a:ext uri="{0D108BD9-81ED-4DB2-BD59-A6C34878D82A}">
                    <a16:rowId xmlns:a16="http://schemas.microsoft.com/office/drawing/2014/main" val="10002"/>
                  </a:ext>
                </a:extLst>
              </a:tr>
              <a:tr h="1474470">
                <a:tc>
                  <a:txBody>
                    <a:bodyPr/>
                    <a:lstStyle/>
                    <a:p>
                      <a:pPr algn="l"/>
                      <a:r>
                        <a:rPr sz="1000" b="0"/>
                        <a:t>3</a:t>
                      </a:r>
                      <a:endParaRPr sz="1000" b="0">
                        <a:latin typeface="Times New Roman"/>
                      </a:endParaRPr>
                    </a:p>
                  </a:txBody>
                  <a:tcPr marL="22860" marR="22860" marT="22860" marB="18288"/>
                </a:tc>
                <a:tc>
                  <a:txBody>
                    <a:bodyPr/>
                    <a:lstStyle/>
                    <a:p>
                      <a:pPr algn="l"/>
                      <a:r>
                        <a:rPr sz="1000" b="0"/>
                        <a:t>2020</a:t>
                      </a:r>
                      <a:endParaRPr sz="1000" b="0">
                        <a:latin typeface="Times New Roman"/>
                      </a:endParaRPr>
                    </a:p>
                  </a:txBody>
                  <a:tcPr marL="22860" marR="22860" marT="22860" marB="18288"/>
                </a:tc>
                <a:tc>
                  <a:txBody>
                    <a:bodyPr/>
                    <a:lstStyle/>
                    <a:p>
                      <a:pPr algn="l"/>
                      <a:r>
                        <a:rPr sz="1000" b="0"/>
                        <a:t>Qicheng Ma, Nidhi Rastogi</a:t>
                      </a:r>
                      <a:endParaRPr sz="1000" b="0">
                        <a:latin typeface="Times New Roman"/>
                      </a:endParaRPr>
                    </a:p>
                  </a:txBody>
                  <a:tcPr marL="22860" marR="22860" marT="22860" marB="18288"/>
                </a:tc>
                <a:tc>
                  <a:txBody>
                    <a:bodyPr/>
                    <a:lstStyle/>
                    <a:p>
                      <a:pPr algn="l"/>
                      <a:r>
                        <a:rPr sz="1000" b="0"/>
                        <a:t>DANTE: Predicting Insider Threat Using LSTM on System Logs</a:t>
                      </a:r>
                      <a:endParaRPr sz="1000" b="0">
                        <a:latin typeface="Times New Roman"/>
                      </a:endParaRPr>
                    </a:p>
                  </a:txBody>
                  <a:tcPr marL="22860" marR="22860" marT="22860" marB="18288"/>
                </a:tc>
                <a:tc>
                  <a:txBody>
                    <a:bodyPr/>
                    <a:lstStyle/>
                    <a:p>
                      <a:pPr algn="l"/>
                      <a:r>
                        <a:rPr sz="1000" b="0"/>
                        <a:t>IEEE TrustCom 2020</a:t>
                      </a:r>
                      <a:endParaRPr sz="1000" b="0">
                        <a:latin typeface="Times New Roman"/>
                      </a:endParaRPr>
                    </a:p>
                  </a:txBody>
                  <a:tcPr marL="22860" marR="22860" marT="22860" marB="18288"/>
                </a:tc>
                <a:tc>
                  <a:txBody>
                    <a:bodyPr/>
                    <a:lstStyle/>
                    <a:p>
                      <a:pPr algn="l"/>
                      <a:r>
                        <a:rPr sz="1000" b="0"/>
                        <a:t>Identify insider threats by modeling system logs as sequences of user actions.</a:t>
                      </a:r>
                      <a:endParaRPr sz="1000" b="0">
                        <a:latin typeface="Times New Roman"/>
                      </a:endParaRPr>
                    </a:p>
                  </a:txBody>
                  <a:tcPr marL="22860" marR="22860" marT="22860" marB="18288"/>
                </a:tc>
                <a:tc>
                  <a:txBody>
                    <a:bodyPr/>
                    <a:lstStyle/>
                    <a:p>
                      <a:pPr algn="l"/>
                      <a:r>
                        <a:rPr sz="1000" b="0"/>
                        <a:t>LSTM / RNN; sequence modeling</a:t>
                      </a:r>
                      <a:endParaRPr sz="1000" b="0">
                        <a:latin typeface="Times New Roman"/>
                      </a:endParaRPr>
                    </a:p>
                  </a:txBody>
                  <a:tcPr marL="22860" marR="22860" marT="22860" marB="18288"/>
                </a:tc>
                <a:tc>
                  <a:txBody>
                    <a:bodyPr/>
                    <a:lstStyle/>
                    <a:p>
                      <a:pPr algn="l"/>
                      <a:r>
                        <a:rPr sz="1000" b="0"/>
                        <a:t>CERT Insider Threat Dataset</a:t>
                      </a:r>
                      <a:endParaRPr sz="1000" b="0">
                        <a:latin typeface="Times New Roman"/>
                      </a:endParaRPr>
                    </a:p>
                  </a:txBody>
                  <a:tcPr marL="22860" marR="22860" marT="22860" marB="18288"/>
                </a:tc>
                <a:tc>
                  <a:txBody>
                    <a:bodyPr/>
                    <a:lstStyle/>
                    <a:p>
                      <a:pPr algn="l"/>
                      <a:r>
                        <a:rPr sz="1000" b="0"/>
                        <a:t>System-log sequences; user actions; behavioral workflows</a:t>
                      </a:r>
                      <a:endParaRPr sz="1000" b="0">
                        <a:latin typeface="Times New Roman"/>
                      </a:endParaRPr>
                    </a:p>
                  </a:txBody>
                  <a:tcPr marL="22860" marR="22860" marT="22860" marB="18288"/>
                </a:tc>
                <a:tc>
                  <a:txBody>
                    <a:bodyPr/>
                    <a:lstStyle/>
                    <a:p>
                      <a:pPr algn="l"/>
                      <a:r>
                        <a:rPr sz="1000" b="0"/>
                        <a:t>Sequential system-log modeling can identify deviations from normal workflows.</a:t>
                      </a:r>
                      <a:endParaRPr sz="1000" b="0">
                        <a:latin typeface="Times New Roman"/>
                      </a:endParaRPr>
                    </a:p>
                  </a:txBody>
                  <a:tcPr marL="22860" marR="22860" marT="22860" marB="18288"/>
                </a:tc>
                <a:tc>
                  <a:txBody>
                    <a:bodyPr/>
                    <a:lstStyle/>
                    <a:p>
                      <a:pPr algn="l"/>
                      <a:r>
                        <a:rPr sz="1000" b="0"/>
                        <a:t>Detects sequence deviations but does not combine sequence detection with resource sensitivity, dynamic risk scoring and explainability.</a:t>
                      </a:r>
                      <a:endParaRPr sz="1000" b="0">
                        <a:latin typeface="Times New Roman"/>
                      </a:endParaRPr>
                    </a:p>
                  </a:txBody>
                  <a:tcPr marL="22860" marR="22860" marT="22860" marB="18288"/>
                </a:tc>
                <a:tc>
                  <a:txBody>
                    <a:bodyPr/>
                    <a:lstStyle/>
                    <a:p>
                      <a:pPr algn="l"/>
                      <a:r>
                        <a:rPr sz="1000" b="0" dirty="0"/>
                        <a:t>10.1109/TrustCom50675.2020.00153</a:t>
                      </a:r>
                      <a:endParaRPr sz="1000" b="0" dirty="0">
                        <a:latin typeface="Times New Roman"/>
                      </a:endParaRPr>
                    </a:p>
                  </a:txBody>
                  <a:tcPr marL="22860" marR="22860" marT="22860" marB="18288"/>
                </a:tc>
                <a:extLst>
                  <a:ext uri="{0D108BD9-81ED-4DB2-BD59-A6C34878D82A}">
                    <a16:rowId xmlns:a16="http://schemas.microsoft.com/office/drawing/2014/main" val="10003"/>
                  </a:ext>
                </a:extLst>
              </a:tr>
            </a:tbl>
          </a:graphicData>
        </a:graphic>
      </p:graphicFrame>
      <p:sp>
        <p:nvSpPr>
          <p:cNvPr id="4" name="TextBox 3"/>
          <p:cNvSpPr txBox="1"/>
          <p:nvPr/>
        </p:nvSpPr>
        <p:spPr>
          <a:xfrm>
            <a:off x="182880" y="6565392"/>
            <a:ext cx="11704320" cy="164592"/>
          </a:xfrm>
          <a:prstGeom prst="rect">
            <a:avLst/>
          </a:prstGeom>
          <a:noFill/>
        </p:spPr>
        <p:txBody>
          <a:bodyPr wrap="none">
            <a:spAutoFit/>
          </a:bodyPr>
          <a:lstStyle/>
          <a:p>
            <a:pPr algn="ctr"/>
            <a:r>
              <a:rPr sz="650">
                <a:latin typeface="Times New Roman"/>
              </a:rPr>
              <a:t>Team No. 13  |  AI-Driven Insider Threat Detection Through Behavioral Analytics and Attack Sequence Correlation  |  1/6</a:t>
            </a:r>
          </a:p>
        </p:txBody>
      </p:sp>
      <p:pic>
        <p:nvPicPr>
          <p:cNvPr id="6" name="Picture 5">
            <a:extLst>
              <a:ext uri="{FF2B5EF4-FFF2-40B4-BE49-F238E27FC236}">
                <a16:creationId xmlns:a16="http://schemas.microsoft.com/office/drawing/2014/main" id="{9D51B0AA-E9F0-647D-9AF3-636E23E652F3}"/>
              </a:ext>
            </a:extLst>
          </p:cNvPr>
          <p:cNvPicPr>
            <a:picLocks noChangeAspect="1"/>
          </p:cNvPicPr>
          <p:nvPr/>
        </p:nvPicPr>
        <p:blipFill>
          <a:blip r:embed="rId2"/>
          <a:stretch>
            <a:fillRect/>
          </a:stretch>
        </p:blipFill>
        <p:spPr>
          <a:xfrm>
            <a:off x="1" y="-396"/>
            <a:ext cx="1458484" cy="69086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37160" y="73152"/>
            <a:ext cx="11841480" cy="502920"/>
          </a:xfrm>
          <a:prstGeom prst="rect">
            <a:avLst/>
          </a:prstGeom>
          <a:noFill/>
        </p:spPr>
        <p:txBody>
          <a:bodyPr wrap="none">
            <a:spAutoFit/>
          </a:bodyPr>
          <a:lstStyle/>
          <a:p>
            <a:pPr algn="ctr"/>
            <a:r>
              <a:rPr sz="2200" b="1">
                <a:latin typeface="Times New Roman"/>
              </a:rPr>
              <a:t>Literature Survey – Papers 4–6</a:t>
            </a:r>
          </a:p>
        </p:txBody>
      </p:sp>
      <p:graphicFrame>
        <p:nvGraphicFramePr>
          <p:cNvPr id="3" name="Table 2"/>
          <p:cNvGraphicFramePr>
            <a:graphicFrameLocks noGrp="1"/>
          </p:cNvGraphicFramePr>
          <p:nvPr>
            <p:extLst>
              <p:ext uri="{D42A27DB-BD31-4B8C-83A1-F6EECF244321}">
                <p14:modId xmlns:p14="http://schemas.microsoft.com/office/powerpoint/2010/main" val="3034294829"/>
              </p:ext>
            </p:extLst>
          </p:nvPr>
        </p:nvGraphicFramePr>
        <p:xfrm>
          <a:off x="54429" y="658368"/>
          <a:ext cx="12061371" cy="5897880"/>
        </p:xfrm>
        <a:graphic>
          <a:graphicData uri="http://schemas.openxmlformats.org/drawingml/2006/table">
            <a:tbl>
              <a:tblPr firstRow="1" bandRow="1">
                <a:tableStyleId>{5940675A-B579-460E-94D1-54222C63F5DA}</a:tableStyleId>
              </a:tblPr>
              <a:tblGrid>
                <a:gridCol w="402771">
                  <a:extLst>
                    <a:ext uri="{9D8B030D-6E8A-4147-A177-3AD203B41FA5}">
                      <a16:colId xmlns:a16="http://schemas.microsoft.com/office/drawing/2014/main" val="20000"/>
                    </a:ext>
                  </a:extLst>
                </a:gridCol>
                <a:gridCol w="566928">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389888">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gridCol w="822960">
                  <a:extLst>
                    <a:ext uri="{9D8B030D-6E8A-4147-A177-3AD203B41FA5}">
                      <a16:colId xmlns:a16="http://schemas.microsoft.com/office/drawing/2014/main" val="20007"/>
                    </a:ext>
                  </a:extLst>
                </a:gridCol>
                <a:gridCol w="1005840">
                  <a:extLst>
                    <a:ext uri="{9D8B030D-6E8A-4147-A177-3AD203B41FA5}">
                      <a16:colId xmlns:a16="http://schemas.microsoft.com/office/drawing/2014/main" val="20008"/>
                    </a:ext>
                  </a:extLst>
                </a:gridCol>
                <a:gridCol w="1143000">
                  <a:extLst>
                    <a:ext uri="{9D8B030D-6E8A-4147-A177-3AD203B41FA5}">
                      <a16:colId xmlns:a16="http://schemas.microsoft.com/office/drawing/2014/main" val="20009"/>
                    </a:ext>
                  </a:extLst>
                </a:gridCol>
                <a:gridCol w="1234440">
                  <a:extLst>
                    <a:ext uri="{9D8B030D-6E8A-4147-A177-3AD203B41FA5}">
                      <a16:colId xmlns:a16="http://schemas.microsoft.com/office/drawing/2014/main" val="20010"/>
                    </a:ext>
                  </a:extLst>
                </a:gridCol>
                <a:gridCol w="1335024">
                  <a:extLst>
                    <a:ext uri="{9D8B030D-6E8A-4147-A177-3AD203B41FA5}">
                      <a16:colId xmlns:a16="http://schemas.microsoft.com/office/drawing/2014/main" val="20011"/>
                    </a:ext>
                  </a:extLst>
                </a:gridCol>
              </a:tblGrid>
              <a:tr h="1474470">
                <a:tc>
                  <a:txBody>
                    <a:bodyPr/>
                    <a:lstStyle/>
                    <a:p>
                      <a:pPr algn="ctr"/>
                      <a:r>
                        <a:rPr sz="1000" b="1" dirty="0" err="1"/>
                        <a:t>Sl</a:t>
                      </a:r>
                      <a:r>
                        <a:rPr sz="1000" b="1" dirty="0"/>
                        <a:t> No</a:t>
                      </a:r>
                      <a:endParaRPr sz="1000" b="1" dirty="0">
                        <a:latin typeface="Times New Roman"/>
                      </a:endParaRPr>
                    </a:p>
                  </a:txBody>
                  <a:tcPr anchor="ctr"/>
                </a:tc>
                <a:tc>
                  <a:txBody>
                    <a:bodyPr/>
                    <a:lstStyle/>
                    <a:p>
                      <a:pPr algn="ctr"/>
                      <a:r>
                        <a:rPr sz="1000" b="1" dirty="0"/>
                        <a:t>Year</a:t>
                      </a:r>
                    </a:p>
                    <a:p>
                      <a:pPr algn="ctr"/>
                      <a:r>
                        <a:rPr sz="1000" b="1" dirty="0"/>
                        <a:t>(2020 onwards</a:t>
                      </a:r>
                    </a:p>
                    <a:p>
                      <a:pPr algn="ctr"/>
                      <a:r>
                        <a:rPr sz="1000" b="1" dirty="0"/>
                        <a:t>papers)</a:t>
                      </a:r>
                      <a:endParaRPr sz="1000" b="1" dirty="0">
                        <a:latin typeface="Times New Roman"/>
                      </a:endParaRPr>
                    </a:p>
                  </a:txBody>
                  <a:tcPr anchor="ctr"/>
                </a:tc>
                <a:tc>
                  <a:txBody>
                    <a:bodyPr/>
                    <a:lstStyle/>
                    <a:p>
                      <a:pPr algn="ctr"/>
                      <a:r>
                        <a:rPr sz="1000" b="1" dirty="0"/>
                        <a:t>Authors</a:t>
                      </a:r>
                      <a:endParaRPr sz="1000" b="1" dirty="0">
                        <a:latin typeface="Times New Roman"/>
                      </a:endParaRPr>
                    </a:p>
                  </a:txBody>
                  <a:tcPr anchor="ctr"/>
                </a:tc>
                <a:tc>
                  <a:txBody>
                    <a:bodyPr/>
                    <a:lstStyle/>
                    <a:p>
                      <a:pPr algn="ctr"/>
                      <a:r>
                        <a:rPr sz="1000" b="1" dirty="0"/>
                        <a:t>Title of the paper</a:t>
                      </a:r>
                      <a:endParaRPr sz="1000" b="1" dirty="0">
                        <a:latin typeface="Times New Roman"/>
                      </a:endParaRPr>
                    </a:p>
                  </a:txBody>
                  <a:tcPr anchor="ctr"/>
                </a:tc>
                <a:tc>
                  <a:txBody>
                    <a:bodyPr/>
                    <a:lstStyle/>
                    <a:p>
                      <a:pPr algn="ctr"/>
                      <a:r>
                        <a:rPr sz="1000" b="1" dirty="0"/>
                        <a:t>Source (Journal/</a:t>
                      </a:r>
                    </a:p>
                    <a:p>
                      <a:pPr algn="ctr"/>
                      <a:r>
                        <a:rPr sz="1000" b="1" dirty="0"/>
                        <a:t>Conference name)</a:t>
                      </a:r>
                      <a:endParaRPr sz="1000" b="1" dirty="0">
                        <a:latin typeface="Times New Roman"/>
                      </a:endParaRPr>
                    </a:p>
                  </a:txBody>
                  <a:tcPr anchor="ctr"/>
                </a:tc>
                <a:tc>
                  <a:txBody>
                    <a:bodyPr/>
                    <a:lstStyle/>
                    <a:p>
                      <a:pPr algn="ctr"/>
                      <a:r>
                        <a:rPr sz="1000" b="1" dirty="0"/>
                        <a:t>Objective of the paper</a:t>
                      </a:r>
                      <a:endParaRPr sz="1000" b="1" dirty="0">
                        <a:latin typeface="Times New Roman"/>
                      </a:endParaRPr>
                    </a:p>
                  </a:txBody>
                  <a:tcPr anchor="ctr"/>
                </a:tc>
                <a:tc>
                  <a:txBody>
                    <a:bodyPr/>
                    <a:lstStyle/>
                    <a:p>
                      <a:pPr algn="ctr"/>
                      <a:r>
                        <a:rPr sz="1000" b="1" dirty="0"/>
                        <a:t>Techniques Used</a:t>
                      </a:r>
                      <a:endParaRPr sz="1000" b="1" dirty="0">
                        <a:latin typeface="Times New Roman"/>
                      </a:endParaRPr>
                    </a:p>
                  </a:txBody>
                  <a:tcPr anchor="ctr"/>
                </a:tc>
                <a:tc>
                  <a:txBody>
                    <a:bodyPr/>
                    <a:lstStyle/>
                    <a:p>
                      <a:pPr algn="ctr"/>
                      <a:r>
                        <a:rPr sz="1000" b="1" dirty="0"/>
                        <a:t>Dataset Used</a:t>
                      </a:r>
                      <a:endParaRPr sz="1000" b="1" dirty="0">
                        <a:latin typeface="Times New Roman"/>
                      </a:endParaRPr>
                    </a:p>
                  </a:txBody>
                  <a:tcPr anchor="ctr"/>
                </a:tc>
                <a:tc>
                  <a:txBody>
                    <a:bodyPr/>
                    <a:lstStyle/>
                    <a:p>
                      <a:pPr algn="ctr"/>
                      <a:r>
                        <a:rPr sz="1000" b="1" dirty="0"/>
                        <a:t>Parameters </a:t>
                      </a:r>
                      <a:r>
                        <a:rPr sz="1000" b="1" dirty="0" err="1"/>
                        <a:t>Analysed</a:t>
                      </a:r>
                      <a:endParaRPr sz="1000" b="1" dirty="0">
                        <a:latin typeface="Times New Roman"/>
                      </a:endParaRPr>
                    </a:p>
                  </a:txBody>
                  <a:tcPr anchor="ctr"/>
                </a:tc>
                <a:tc>
                  <a:txBody>
                    <a:bodyPr/>
                    <a:lstStyle/>
                    <a:p>
                      <a:pPr algn="ctr"/>
                      <a:r>
                        <a:rPr sz="1000" b="1" dirty="0"/>
                        <a:t>Research Inference</a:t>
                      </a:r>
                      <a:endParaRPr sz="1000" b="1" dirty="0">
                        <a:latin typeface="Times New Roman"/>
                      </a:endParaRPr>
                    </a:p>
                  </a:txBody>
                  <a:tcPr anchor="ctr"/>
                </a:tc>
                <a:tc>
                  <a:txBody>
                    <a:bodyPr/>
                    <a:lstStyle/>
                    <a:p>
                      <a:pPr algn="ctr"/>
                      <a:r>
                        <a:rPr sz="1000" b="1" dirty="0"/>
                        <a:t>Research Gap</a:t>
                      </a:r>
                      <a:endParaRPr sz="1000" b="1" dirty="0">
                        <a:latin typeface="Times New Roman"/>
                      </a:endParaRPr>
                    </a:p>
                  </a:txBody>
                  <a:tcPr anchor="ctr"/>
                </a:tc>
                <a:tc>
                  <a:txBody>
                    <a:bodyPr/>
                    <a:lstStyle/>
                    <a:p>
                      <a:pPr algn="ctr"/>
                      <a:r>
                        <a:rPr sz="1000" b="1" dirty="0"/>
                        <a:t>DOI of the paper</a:t>
                      </a:r>
                      <a:endParaRPr sz="1000" b="1" dirty="0">
                        <a:latin typeface="Times New Roman"/>
                      </a:endParaRPr>
                    </a:p>
                  </a:txBody>
                  <a:tcPr anchor="ctr"/>
                </a:tc>
                <a:extLst>
                  <a:ext uri="{0D108BD9-81ED-4DB2-BD59-A6C34878D82A}">
                    <a16:rowId xmlns:a16="http://schemas.microsoft.com/office/drawing/2014/main" val="10000"/>
                  </a:ext>
                </a:extLst>
              </a:tr>
              <a:tr h="1474470">
                <a:tc>
                  <a:txBody>
                    <a:bodyPr/>
                    <a:lstStyle/>
                    <a:p>
                      <a:pPr algn="l"/>
                      <a:r>
                        <a:rPr sz="1000" b="0"/>
                        <a:t>4</a:t>
                      </a:r>
                      <a:endParaRPr sz="1000" b="0">
                        <a:latin typeface="Times New Roman"/>
                      </a:endParaRPr>
                    </a:p>
                  </a:txBody>
                  <a:tcPr marL="22860" marR="22860" marT="22860" marB="18288"/>
                </a:tc>
                <a:tc>
                  <a:txBody>
                    <a:bodyPr/>
                    <a:lstStyle/>
                    <a:p>
                      <a:pPr algn="l"/>
                      <a:r>
                        <a:rPr sz="1000" b="0"/>
                        <a:t>2020</a:t>
                      </a:r>
                      <a:endParaRPr sz="1000" b="0">
                        <a:latin typeface="Times New Roman"/>
                      </a:endParaRPr>
                    </a:p>
                  </a:txBody>
                  <a:tcPr marL="22860" marR="22860" marT="22860" marB="18288"/>
                </a:tc>
                <a:tc>
                  <a:txBody>
                    <a:bodyPr/>
                    <a:lstStyle/>
                    <a:p>
                      <a:pPr algn="l"/>
                      <a:r>
                        <a:rPr sz="1000" b="0"/>
                        <a:t>R. G. Gayathri, Atul Sajjanhar, Yong Xiang</a:t>
                      </a:r>
                      <a:endParaRPr sz="1000" b="0">
                        <a:latin typeface="Times New Roman"/>
                      </a:endParaRPr>
                    </a:p>
                  </a:txBody>
                  <a:tcPr marL="22860" marR="22860" marT="22860" marB="18288"/>
                </a:tc>
                <a:tc>
                  <a:txBody>
                    <a:bodyPr/>
                    <a:lstStyle/>
                    <a:p>
                      <a:pPr algn="l"/>
                      <a:r>
                        <a:rPr sz="1000" b="0"/>
                        <a:t>Image-Based Feature Representation for Insider Threat Classification</a:t>
                      </a:r>
                      <a:endParaRPr sz="1000" b="0">
                        <a:latin typeface="Times New Roman"/>
                      </a:endParaRPr>
                    </a:p>
                  </a:txBody>
                  <a:tcPr marL="22860" marR="22860" marT="22860" marB="18288"/>
                </a:tc>
                <a:tc>
                  <a:txBody>
                    <a:bodyPr/>
                    <a:lstStyle/>
                    <a:p>
                      <a:pPr algn="l"/>
                      <a:r>
                        <a:rPr sz="1000" b="0"/>
                        <a:t>Applied Sciences</a:t>
                      </a:r>
                      <a:endParaRPr sz="1000" b="0">
                        <a:latin typeface="Times New Roman"/>
                      </a:endParaRPr>
                    </a:p>
                  </a:txBody>
                  <a:tcPr marL="22860" marR="22860" marT="22860" marB="18288"/>
                </a:tc>
                <a:tc>
                  <a:txBody>
                    <a:bodyPr/>
                    <a:lstStyle/>
                    <a:p>
                      <a:pPr algn="l"/>
                      <a:r>
                        <a:rPr sz="1000" b="0"/>
                        <a:t>Represent employee resource-access behavior as images and detect malicious insiders.</a:t>
                      </a:r>
                      <a:endParaRPr sz="1000" b="0">
                        <a:latin typeface="Times New Roman"/>
                      </a:endParaRPr>
                    </a:p>
                  </a:txBody>
                  <a:tcPr marL="22860" marR="22860" marT="22860" marB="18288"/>
                </a:tc>
                <a:tc>
                  <a:txBody>
                    <a:bodyPr/>
                    <a:lstStyle/>
                    <a:p>
                      <a:pPr algn="l"/>
                      <a:r>
                        <a:rPr sz="1000" b="0"/>
                        <a:t>CNN; transfer learning; MobileNetV2; VGG19; ResNet50</a:t>
                      </a:r>
                      <a:endParaRPr sz="1000" b="0">
                        <a:latin typeface="Times New Roman"/>
                      </a:endParaRPr>
                    </a:p>
                  </a:txBody>
                  <a:tcPr marL="22860" marR="22860" marT="22860" marB="18288"/>
                </a:tc>
                <a:tc>
                  <a:txBody>
                    <a:bodyPr/>
                    <a:lstStyle/>
                    <a:p>
                      <a:pPr algn="l"/>
                      <a:r>
                        <a:rPr sz="1000" b="0"/>
                        <a:t>CMU CERT v4.2</a:t>
                      </a:r>
                      <a:endParaRPr sz="1000" b="0">
                        <a:latin typeface="Times New Roman"/>
                      </a:endParaRPr>
                    </a:p>
                  </a:txBody>
                  <a:tcPr marL="22860" marR="22860" marT="22860" marB="18288"/>
                </a:tc>
                <a:tc>
                  <a:txBody>
                    <a:bodyPr/>
                    <a:lstStyle/>
                    <a:p>
                      <a:pPr algn="l"/>
                      <a:r>
                        <a:rPr sz="1000" b="0"/>
                        <a:t>Login; email; device; file; HTTP activity</a:t>
                      </a:r>
                      <a:endParaRPr sz="1000" b="0">
                        <a:latin typeface="Times New Roman"/>
                      </a:endParaRPr>
                    </a:p>
                  </a:txBody>
                  <a:tcPr marL="22860" marR="22860" marT="22860" marB="18288"/>
                </a:tc>
                <a:tc>
                  <a:txBody>
                    <a:bodyPr/>
                    <a:lstStyle/>
                    <a:p>
                      <a:pPr algn="l"/>
                      <a:r>
                        <a:rPr sz="1000" b="0"/>
                        <a:t>Image-based behavioral representation with deep CNNs can classify insider threats effectively.</a:t>
                      </a:r>
                      <a:endParaRPr sz="1000" b="0">
                        <a:latin typeface="Times New Roman"/>
                      </a:endParaRPr>
                    </a:p>
                  </a:txBody>
                  <a:tcPr marL="22860" marR="22860" marT="22860" marB="18288"/>
                </a:tc>
                <a:tc>
                  <a:txBody>
                    <a:bodyPr/>
                    <a:lstStyle/>
                    <a:p>
                      <a:pPr algn="l"/>
                      <a:r>
                        <a:rPr sz="1000" b="0" dirty="0"/>
                        <a:t>Focuses on classification rather than temporal attack-sequence reconstruction and contextual risk assessment.</a:t>
                      </a:r>
                      <a:endParaRPr sz="1000" b="0" dirty="0">
                        <a:latin typeface="Times New Roman"/>
                      </a:endParaRPr>
                    </a:p>
                  </a:txBody>
                  <a:tcPr marL="22860" marR="22860" marT="22860" marB="18288"/>
                </a:tc>
                <a:tc>
                  <a:txBody>
                    <a:bodyPr/>
                    <a:lstStyle/>
                    <a:p>
                      <a:pPr algn="l"/>
                      <a:r>
                        <a:rPr sz="1000" b="0" dirty="0"/>
                        <a:t>10.3390/app10144945</a:t>
                      </a:r>
                      <a:endParaRPr sz="1000" b="0" dirty="0">
                        <a:latin typeface="Times New Roman"/>
                      </a:endParaRPr>
                    </a:p>
                  </a:txBody>
                  <a:tcPr marL="22860" marR="22860" marT="22860" marB="18288"/>
                </a:tc>
                <a:extLst>
                  <a:ext uri="{0D108BD9-81ED-4DB2-BD59-A6C34878D82A}">
                    <a16:rowId xmlns:a16="http://schemas.microsoft.com/office/drawing/2014/main" val="10001"/>
                  </a:ext>
                </a:extLst>
              </a:tr>
              <a:tr h="1474470">
                <a:tc>
                  <a:txBody>
                    <a:bodyPr/>
                    <a:lstStyle/>
                    <a:p>
                      <a:pPr algn="l"/>
                      <a:r>
                        <a:rPr sz="1000" b="0"/>
                        <a:t>5</a:t>
                      </a:r>
                      <a:endParaRPr sz="1000" b="0">
                        <a:latin typeface="Times New Roman"/>
                      </a:endParaRPr>
                    </a:p>
                  </a:txBody>
                  <a:tcPr marL="22860" marR="22860" marT="22860" marB="18288"/>
                </a:tc>
                <a:tc>
                  <a:txBody>
                    <a:bodyPr/>
                    <a:lstStyle/>
                    <a:p>
                      <a:pPr algn="l"/>
                      <a:r>
                        <a:rPr sz="1000" b="0"/>
                        <a:t>2020</a:t>
                      </a:r>
                      <a:endParaRPr sz="1000" b="0">
                        <a:latin typeface="Times New Roman"/>
                      </a:endParaRPr>
                    </a:p>
                  </a:txBody>
                  <a:tcPr marL="22860" marR="22860" marT="22860" marB="18288"/>
                </a:tc>
                <a:tc>
                  <a:txBody>
                    <a:bodyPr/>
                    <a:lstStyle/>
                    <a:p>
                      <a:pPr algn="l"/>
                      <a:r>
                        <a:rPr sz="1000" b="0"/>
                        <a:t>Shuhan Yuan, Panpan Zheng, Xintao Wu, Hanghang Tong</a:t>
                      </a:r>
                      <a:endParaRPr sz="1000" b="0">
                        <a:latin typeface="Times New Roman"/>
                      </a:endParaRPr>
                    </a:p>
                  </a:txBody>
                  <a:tcPr marL="22860" marR="22860" marT="22860" marB="18288"/>
                </a:tc>
                <a:tc>
                  <a:txBody>
                    <a:bodyPr/>
                    <a:lstStyle/>
                    <a:p>
                      <a:pPr algn="l"/>
                      <a:r>
                        <a:rPr sz="1000" b="0"/>
                        <a:t>Few-shot Insider Threat Detection</a:t>
                      </a:r>
                      <a:endParaRPr sz="1000" b="0">
                        <a:latin typeface="Times New Roman"/>
                      </a:endParaRPr>
                    </a:p>
                  </a:txBody>
                  <a:tcPr marL="22860" marR="22860" marT="22860" marB="18288"/>
                </a:tc>
                <a:tc>
                  <a:txBody>
                    <a:bodyPr/>
                    <a:lstStyle/>
                    <a:p>
                      <a:pPr algn="l"/>
                      <a:r>
                        <a:rPr sz="1000" b="0"/>
                        <a:t>ACM CIKM 2020</a:t>
                      </a:r>
                      <a:endParaRPr sz="1000" b="0">
                        <a:latin typeface="Times New Roman"/>
                      </a:endParaRPr>
                    </a:p>
                  </a:txBody>
                  <a:tcPr marL="22860" marR="22860" marT="22860" marB="18288"/>
                </a:tc>
                <a:tc>
                  <a:txBody>
                    <a:bodyPr/>
                    <a:lstStyle/>
                    <a:p>
                      <a:pPr algn="l"/>
                      <a:r>
                        <a:rPr sz="1000" b="0"/>
                        <a:t>Improve insider-threat detection when only a small number of insider examples are available.</a:t>
                      </a:r>
                      <a:endParaRPr sz="1000" b="0">
                        <a:latin typeface="Times New Roman"/>
                      </a:endParaRPr>
                    </a:p>
                  </a:txBody>
                  <a:tcPr marL="22860" marR="22860" marT="22860" marB="18288"/>
                </a:tc>
                <a:tc>
                  <a:txBody>
                    <a:bodyPr/>
                    <a:lstStyle/>
                    <a:p>
                      <a:pPr algn="l"/>
                      <a:r>
                        <a:rPr sz="1000" b="0"/>
                        <a:t>Self-supervised pre-training; metric-based few-shot learning</a:t>
                      </a:r>
                      <a:endParaRPr sz="1000" b="0">
                        <a:latin typeface="Times New Roman"/>
                      </a:endParaRPr>
                    </a:p>
                  </a:txBody>
                  <a:tcPr marL="22860" marR="22860" marT="22860" marB="18288"/>
                </a:tc>
                <a:tc>
                  <a:txBody>
                    <a:bodyPr/>
                    <a:lstStyle/>
                    <a:p>
                      <a:pPr algn="l"/>
                      <a:r>
                        <a:rPr sz="1000" b="0"/>
                        <a:t>Insider-threat audit data / CERT</a:t>
                      </a:r>
                      <a:endParaRPr sz="1000" b="0">
                        <a:latin typeface="Times New Roman"/>
                      </a:endParaRPr>
                    </a:p>
                  </a:txBody>
                  <a:tcPr marL="22860" marR="22860" marT="22860" marB="18288"/>
                </a:tc>
                <a:tc>
                  <a:txBody>
                    <a:bodyPr/>
                    <a:lstStyle/>
                    <a:p>
                      <a:pPr algn="l"/>
                      <a:r>
                        <a:rPr sz="1000" b="0"/>
                        <a:t>Labeled examples; behavioral patterns; few-shot detection</a:t>
                      </a:r>
                      <a:endParaRPr sz="1000" b="0">
                        <a:latin typeface="Times New Roman"/>
                      </a:endParaRPr>
                    </a:p>
                  </a:txBody>
                  <a:tcPr marL="22860" marR="22860" marT="22860" marB="18288"/>
                </a:tc>
                <a:tc>
                  <a:txBody>
                    <a:bodyPr/>
                    <a:lstStyle/>
                    <a:p>
                      <a:pPr algn="l"/>
                      <a:r>
                        <a:rPr sz="1000" b="0"/>
                        <a:t>Few-shot learning can use a small number of labeled insider examples.</a:t>
                      </a:r>
                      <a:endParaRPr sz="1000" b="0">
                        <a:latin typeface="Times New Roman"/>
                      </a:endParaRPr>
                    </a:p>
                  </a:txBody>
                  <a:tcPr marL="22860" marR="22860" marT="22860" marB="18288"/>
                </a:tc>
                <a:tc>
                  <a:txBody>
                    <a:bodyPr/>
                    <a:lstStyle/>
                    <a:p>
                      <a:pPr algn="l"/>
                      <a:r>
                        <a:rPr sz="1000" b="0" dirty="0"/>
                        <a:t>Does not focus on reconstructing multi-event attack sequences or assessing resource impact.</a:t>
                      </a:r>
                      <a:endParaRPr sz="1000" b="0" dirty="0">
                        <a:latin typeface="Times New Roman"/>
                      </a:endParaRPr>
                    </a:p>
                  </a:txBody>
                  <a:tcPr marL="22860" marR="22860" marT="22860" marB="18288"/>
                </a:tc>
                <a:tc>
                  <a:txBody>
                    <a:bodyPr/>
                    <a:lstStyle/>
                    <a:p>
                      <a:pPr algn="l"/>
                      <a:r>
                        <a:rPr sz="1000" b="0" dirty="0"/>
                        <a:t>10.1145/3340531.3412161</a:t>
                      </a:r>
                      <a:endParaRPr sz="1000" b="0" dirty="0">
                        <a:latin typeface="Times New Roman"/>
                      </a:endParaRPr>
                    </a:p>
                  </a:txBody>
                  <a:tcPr marL="22860" marR="22860" marT="22860" marB="18288"/>
                </a:tc>
                <a:extLst>
                  <a:ext uri="{0D108BD9-81ED-4DB2-BD59-A6C34878D82A}">
                    <a16:rowId xmlns:a16="http://schemas.microsoft.com/office/drawing/2014/main" val="10002"/>
                  </a:ext>
                </a:extLst>
              </a:tr>
              <a:tr h="1474470">
                <a:tc>
                  <a:txBody>
                    <a:bodyPr/>
                    <a:lstStyle/>
                    <a:p>
                      <a:pPr algn="l"/>
                      <a:r>
                        <a:rPr sz="1000" b="0"/>
                        <a:t>6</a:t>
                      </a:r>
                      <a:endParaRPr sz="1000" b="0">
                        <a:latin typeface="Times New Roman"/>
                      </a:endParaRPr>
                    </a:p>
                  </a:txBody>
                  <a:tcPr marL="22860" marR="22860" marT="22860" marB="18288"/>
                </a:tc>
                <a:tc>
                  <a:txBody>
                    <a:bodyPr/>
                    <a:lstStyle/>
                    <a:p>
                      <a:pPr algn="l"/>
                      <a:r>
                        <a:rPr sz="1000" b="0"/>
                        <a:t>2020</a:t>
                      </a:r>
                      <a:endParaRPr sz="1000" b="0">
                        <a:latin typeface="Times New Roman"/>
                      </a:endParaRPr>
                    </a:p>
                  </a:txBody>
                  <a:tcPr marL="22860" marR="22860" marT="22860" marB="18288"/>
                </a:tc>
                <a:tc>
                  <a:txBody>
                    <a:bodyPr/>
                    <a:lstStyle/>
                    <a:p>
                      <a:pPr algn="l"/>
                      <a:r>
                        <a:rPr sz="1000" b="0"/>
                        <a:t>Fangfang Yuan, Yanmin Shang, Yanbing Liu, Yanan Cao, Jianlong Tan</a:t>
                      </a:r>
                      <a:endParaRPr sz="1000" b="0">
                        <a:latin typeface="Times New Roman"/>
                      </a:endParaRPr>
                    </a:p>
                  </a:txBody>
                  <a:tcPr marL="22860" marR="22860" marT="22860" marB="18288"/>
                </a:tc>
                <a:tc>
                  <a:txBody>
                    <a:bodyPr/>
                    <a:lstStyle/>
                    <a:p>
                      <a:pPr algn="l"/>
                      <a:r>
                        <a:rPr sz="1000" b="0"/>
                        <a:t>Data Augmentation for Insider Threat Detection with GAN</a:t>
                      </a:r>
                      <a:endParaRPr sz="1000" b="0">
                        <a:latin typeface="Times New Roman"/>
                      </a:endParaRPr>
                    </a:p>
                  </a:txBody>
                  <a:tcPr marL="22860" marR="22860" marT="22860" marB="18288"/>
                </a:tc>
                <a:tc>
                  <a:txBody>
                    <a:bodyPr/>
                    <a:lstStyle/>
                    <a:p>
                      <a:pPr algn="l"/>
                      <a:r>
                        <a:rPr sz="1000" b="0"/>
                        <a:t>IEEE ICTAI 2020</a:t>
                      </a:r>
                      <a:endParaRPr sz="1000" b="0">
                        <a:latin typeface="Times New Roman"/>
                      </a:endParaRPr>
                    </a:p>
                  </a:txBody>
                  <a:tcPr marL="22860" marR="22860" marT="22860" marB="18288"/>
                </a:tc>
                <a:tc>
                  <a:txBody>
                    <a:bodyPr/>
                    <a:lstStyle/>
                    <a:p>
                      <a:pPr algn="l"/>
                      <a:r>
                        <a:rPr sz="1000" b="0"/>
                        <a:t>Address severe class imbalance by generating synthetic insider-threat samples.</a:t>
                      </a:r>
                      <a:endParaRPr sz="1000" b="0">
                        <a:latin typeface="Times New Roman"/>
                      </a:endParaRPr>
                    </a:p>
                  </a:txBody>
                  <a:tcPr marL="22860" marR="22860" marT="22860" marB="18288"/>
                </a:tc>
                <a:tc>
                  <a:txBody>
                    <a:bodyPr/>
                    <a:lstStyle/>
                    <a:p>
                      <a:pPr algn="l"/>
                      <a:r>
                        <a:rPr sz="1000" b="0"/>
                        <a:t>GAN; data augmentation</a:t>
                      </a:r>
                      <a:endParaRPr sz="1000" b="0">
                        <a:latin typeface="Times New Roman"/>
                      </a:endParaRPr>
                    </a:p>
                  </a:txBody>
                  <a:tcPr marL="22860" marR="22860" marT="22860" marB="18288"/>
                </a:tc>
                <a:tc>
                  <a:txBody>
                    <a:bodyPr/>
                    <a:lstStyle/>
                    <a:p>
                      <a:pPr algn="l"/>
                      <a:r>
                        <a:rPr sz="1000" b="0"/>
                        <a:t>CERT Insider Threat Dataset</a:t>
                      </a:r>
                      <a:endParaRPr sz="1000" b="0">
                        <a:latin typeface="Times New Roman"/>
                      </a:endParaRPr>
                    </a:p>
                  </a:txBody>
                  <a:tcPr marL="22860" marR="22860" marT="22860" marB="18288"/>
                </a:tc>
                <a:tc>
                  <a:txBody>
                    <a:bodyPr/>
                    <a:lstStyle/>
                    <a:p>
                      <a:pPr algn="l"/>
                      <a:r>
                        <a:rPr sz="1000" b="0"/>
                        <a:t>Class distribution; anomalous behavior; synthetic samples</a:t>
                      </a:r>
                      <a:endParaRPr sz="1000" b="0">
                        <a:latin typeface="Times New Roman"/>
                      </a:endParaRPr>
                    </a:p>
                  </a:txBody>
                  <a:tcPr marL="22860" marR="22860" marT="22860" marB="18288"/>
                </a:tc>
                <a:tc>
                  <a:txBody>
                    <a:bodyPr/>
                    <a:lstStyle/>
                    <a:p>
                      <a:pPr algn="l"/>
                      <a:r>
                        <a:rPr sz="1000" b="0"/>
                        <a:t>Synthetic minority samples can improve training for rare insider-threat events.</a:t>
                      </a:r>
                      <a:endParaRPr sz="1000" b="0">
                        <a:latin typeface="Times New Roman"/>
                      </a:endParaRPr>
                    </a:p>
                  </a:txBody>
                  <a:tcPr marL="22860" marR="22860" marT="22860" marB="18288"/>
                </a:tc>
                <a:tc>
                  <a:txBody>
                    <a:bodyPr/>
                    <a:lstStyle/>
                    <a:p>
                      <a:pPr algn="l"/>
                      <a:r>
                        <a:rPr sz="1000" b="0"/>
                        <a:t>Addresses imbalance but not temporal correlation, attack-sequence interpretation or dynamic incident risk.</a:t>
                      </a:r>
                      <a:endParaRPr sz="1000" b="0">
                        <a:latin typeface="Times New Roman"/>
                      </a:endParaRPr>
                    </a:p>
                  </a:txBody>
                  <a:tcPr marL="22860" marR="22860" marT="22860" marB="18288"/>
                </a:tc>
                <a:tc>
                  <a:txBody>
                    <a:bodyPr/>
                    <a:lstStyle/>
                    <a:p>
                      <a:pPr algn="l"/>
                      <a:r>
                        <a:rPr sz="1000" b="0" dirty="0"/>
                        <a:t>10.1109/ICTAI50040.2020.00102</a:t>
                      </a:r>
                      <a:endParaRPr sz="1000" b="0" dirty="0">
                        <a:latin typeface="Times New Roman"/>
                      </a:endParaRPr>
                    </a:p>
                  </a:txBody>
                  <a:tcPr marL="22860" marR="22860" marT="22860" marB="18288"/>
                </a:tc>
                <a:extLst>
                  <a:ext uri="{0D108BD9-81ED-4DB2-BD59-A6C34878D82A}">
                    <a16:rowId xmlns:a16="http://schemas.microsoft.com/office/drawing/2014/main" val="10003"/>
                  </a:ext>
                </a:extLst>
              </a:tr>
            </a:tbl>
          </a:graphicData>
        </a:graphic>
      </p:graphicFrame>
      <p:sp>
        <p:nvSpPr>
          <p:cNvPr id="4" name="TextBox 3"/>
          <p:cNvSpPr txBox="1"/>
          <p:nvPr/>
        </p:nvSpPr>
        <p:spPr>
          <a:xfrm>
            <a:off x="182880" y="6565392"/>
            <a:ext cx="11704320" cy="164592"/>
          </a:xfrm>
          <a:prstGeom prst="rect">
            <a:avLst/>
          </a:prstGeom>
          <a:noFill/>
        </p:spPr>
        <p:txBody>
          <a:bodyPr wrap="none">
            <a:spAutoFit/>
          </a:bodyPr>
          <a:lstStyle/>
          <a:p>
            <a:pPr algn="ctr"/>
            <a:r>
              <a:rPr sz="650">
                <a:latin typeface="Times New Roman"/>
              </a:rPr>
              <a:t>Team No. 13  |  AI-Driven Insider Threat Detection Through Behavioral Analytics and Attack Sequence Correlation  |  2/6</a:t>
            </a:r>
          </a:p>
        </p:txBody>
      </p:sp>
      <p:pic>
        <p:nvPicPr>
          <p:cNvPr id="6" name="Picture 5">
            <a:extLst>
              <a:ext uri="{FF2B5EF4-FFF2-40B4-BE49-F238E27FC236}">
                <a16:creationId xmlns:a16="http://schemas.microsoft.com/office/drawing/2014/main" id="{49D2A434-4375-D864-2995-34FF9C3D978B}"/>
              </a:ext>
            </a:extLst>
          </p:cNvPr>
          <p:cNvPicPr>
            <a:picLocks noChangeAspect="1"/>
          </p:cNvPicPr>
          <p:nvPr/>
        </p:nvPicPr>
        <p:blipFill>
          <a:blip r:embed="rId2"/>
          <a:stretch>
            <a:fillRect/>
          </a:stretch>
        </p:blipFill>
        <p:spPr>
          <a:xfrm>
            <a:off x="1" y="-396"/>
            <a:ext cx="1458484" cy="69086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37160" y="73152"/>
            <a:ext cx="11841480" cy="502920"/>
          </a:xfrm>
          <a:prstGeom prst="rect">
            <a:avLst/>
          </a:prstGeom>
          <a:noFill/>
        </p:spPr>
        <p:txBody>
          <a:bodyPr wrap="none">
            <a:spAutoFit/>
          </a:bodyPr>
          <a:lstStyle/>
          <a:p>
            <a:pPr algn="ctr"/>
            <a:r>
              <a:rPr sz="2200" b="1">
                <a:latin typeface="Times New Roman"/>
              </a:rPr>
              <a:t>Literature Survey – Papers 7–9</a:t>
            </a:r>
          </a:p>
        </p:txBody>
      </p:sp>
      <p:graphicFrame>
        <p:nvGraphicFramePr>
          <p:cNvPr id="3" name="Table 2"/>
          <p:cNvGraphicFramePr>
            <a:graphicFrameLocks noGrp="1"/>
          </p:cNvGraphicFramePr>
          <p:nvPr>
            <p:extLst>
              <p:ext uri="{D42A27DB-BD31-4B8C-83A1-F6EECF244321}">
                <p14:modId xmlns:p14="http://schemas.microsoft.com/office/powerpoint/2010/main" val="3413567209"/>
              </p:ext>
            </p:extLst>
          </p:nvPr>
        </p:nvGraphicFramePr>
        <p:xfrm>
          <a:off x="73152" y="658368"/>
          <a:ext cx="12042648" cy="5897880"/>
        </p:xfrm>
        <a:graphic>
          <a:graphicData uri="http://schemas.openxmlformats.org/drawingml/2006/table">
            <a:tbl>
              <a:tblPr firstRow="1" bandRow="1">
                <a:tableStyleId>{5940675A-B579-460E-94D1-54222C63F5DA}</a:tableStyleId>
              </a:tblPr>
              <a:tblGrid>
                <a:gridCol w="384048">
                  <a:extLst>
                    <a:ext uri="{9D8B030D-6E8A-4147-A177-3AD203B41FA5}">
                      <a16:colId xmlns:a16="http://schemas.microsoft.com/office/drawing/2014/main" val="20000"/>
                    </a:ext>
                  </a:extLst>
                </a:gridCol>
                <a:gridCol w="566928">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389888">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gridCol w="822960">
                  <a:extLst>
                    <a:ext uri="{9D8B030D-6E8A-4147-A177-3AD203B41FA5}">
                      <a16:colId xmlns:a16="http://schemas.microsoft.com/office/drawing/2014/main" val="20007"/>
                    </a:ext>
                  </a:extLst>
                </a:gridCol>
                <a:gridCol w="1005840">
                  <a:extLst>
                    <a:ext uri="{9D8B030D-6E8A-4147-A177-3AD203B41FA5}">
                      <a16:colId xmlns:a16="http://schemas.microsoft.com/office/drawing/2014/main" val="20008"/>
                    </a:ext>
                  </a:extLst>
                </a:gridCol>
                <a:gridCol w="1143000">
                  <a:extLst>
                    <a:ext uri="{9D8B030D-6E8A-4147-A177-3AD203B41FA5}">
                      <a16:colId xmlns:a16="http://schemas.microsoft.com/office/drawing/2014/main" val="20009"/>
                    </a:ext>
                  </a:extLst>
                </a:gridCol>
                <a:gridCol w="1234440">
                  <a:extLst>
                    <a:ext uri="{9D8B030D-6E8A-4147-A177-3AD203B41FA5}">
                      <a16:colId xmlns:a16="http://schemas.microsoft.com/office/drawing/2014/main" val="20010"/>
                    </a:ext>
                  </a:extLst>
                </a:gridCol>
                <a:gridCol w="1335024">
                  <a:extLst>
                    <a:ext uri="{9D8B030D-6E8A-4147-A177-3AD203B41FA5}">
                      <a16:colId xmlns:a16="http://schemas.microsoft.com/office/drawing/2014/main" val="20011"/>
                    </a:ext>
                  </a:extLst>
                </a:gridCol>
              </a:tblGrid>
              <a:tr h="1474470">
                <a:tc>
                  <a:txBody>
                    <a:bodyPr/>
                    <a:lstStyle/>
                    <a:p>
                      <a:pPr algn="ctr"/>
                      <a:r>
                        <a:rPr sz="1000" b="1" dirty="0" err="1"/>
                        <a:t>Sl</a:t>
                      </a:r>
                      <a:r>
                        <a:rPr sz="1000" b="1" dirty="0"/>
                        <a:t> No</a:t>
                      </a:r>
                      <a:endParaRPr sz="1000" b="1" dirty="0">
                        <a:latin typeface="Times New Roman"/>
                      </a:endParaRPr>
                    </a:p>
                  </a:txBody>
                  <a:tcPr anchor="ctr"/>
                </a:tc>
                <a:tc>
                  <a:txBody>
                    <a:bodyPr/>
                    <a:lstStyle/>
                    <a:p>
                      <a:pPr algn="ctr"/>
                      <a:r>
                        <a:rPr sz="1000" b="1" dirty="0"/>
                        <a:t>Year</a:t>
                      </a:r>
                    </a:p>
                    <a:p>
                      <a:pPr algn="ctr"/>
                      <a:r>
                        <a:rPr sz="1000" b="1" dirty="0"/>
                        <a:t>(2020 onwards</a:t>
                      </a:r>
                    </a:p>
                    <a:p>
                      <a:pPr algn="ctr"/>
                      <a:r>
                        <a:rPr sz="1000" b="1" dirty="0"/>
                        <a:t>papers)</a:t>
                      </a:r>
                      <a:endParaRPr sz="1000" b="1" dirty="0">
                        <a:latin typeface="Times New Roman"/>
                      </a:endParaRPr>
                    </a:p>
                  </a:txBody>
                  <a:tcPr anchor="ctr"/>
                </a:tc>
                <a:tc>
                  <a:txBody>
                    <a:bodyPr/>
                    <a:lstStyle/>
                    <a:p>
                      <a:pPr algn="ctr"/>
                      <a:r>
                        <a:rPr sz="1000" b="1" dirty="0"/>
                        <a:t>Authors</a:t>
                      </a:r>
                      <a:endParaRPr sz="1000" b="1" dirty="0">
                        <a:latin typeface="Times New Roman"/>
                      </a:endParaRPr>
                    </a:p>
                  </a:txBody>
                  <a:tcPr anchor="ctr"/>
                </a:tc>
                <a:tc>
                  <a:txBody>
                    <a:bodyPr/>
                    <a:lstStyle/>
                    <a:p>
                      <a:pPr algn="ctr"/>
                      <a:r>
                        <a:rPr sz="1000" b="1" dirty="0"/>
                        <a:t>Title of the paper</a:t>
                      </a:r>
                      <a:endParaRPr sz="1000" b="1" dirty="0">
                        <a:latin typeface="Times New Roman"/>
                      </a:endParaRPr>
                    </a:p>
                  </a:txBody>
                  <a:tcPr anchor="ctr"/>
                </a:tc>
                <a:tc>
                  <a:txBody>
                    <a:bodyPr/>
                    <a:lstStyle/>
                    <a:p>
                      <a:pPr algn="ctr"/>
                      <a:r>
                        <a:rPr sz="1000" b="1"/>
                        <a:t>Source (Journal/</a:t>
                      </a:r>
                    </a:p>
                    <a:p>
                      <a:pPr algn="ctr"/>
                      <a:r>
                        <a:rPr sz="1000" b="1"/>
                        <a:t>Conference name)</a:t>
                      </a:r>
                      <a:endParaRPr sz="1000" b="1">
                        <a:latin typeface="Times New Roman"/>
                      </a:endParaRPr>
                    </a:p>
                  </a:txBody>
                  <a:tcPr anchor="ctr"/>
                </a:tc>
                <a:tc>
                  <a:txBody>
                    <a:bodyPr/>
                    <a:lstStyle/>
                    <a:p>
                      <a:pPr algn="ctr"/>
                      <a:r>
                        <a:rPr sz="1000" b="1"/>
                        <a:t>Objective of the paper</a:t>
                      </a:r>
                      <a:endParaRPr sz="1000" b="1">
                        <a:latin typeface="Times New Roman"/>
                      </a:endParaRPr>
                    </a:p>
                  </a:txBody>
                  <a:tcPr anchor="ctr"/>
                </a:tc>
                <a:tc>
                  <a:txBody>
                    <a:bodyPr/>
                    <a:lstStyle/>
                    <a:p>
                      <a:pPr algn="ctr"/>
                      <a:r>
                        <a:rPr sz="1000" b="1"/>
                        <a:t>Techniques Used</a:t>
                      </a:r>
                      <a:endParaRPr sz="1000" b="1">
                        <a:latin typeface="Times New Roman"/>
                      </a:endParaRPr>
                    </a:p>
                  </a:txBody>
                  <a:tcPr anchor="ctr"/>
                </a:tc>
                <a:tc>
                  <a:txBody>
                    <a:bodyPr/>
                    <a:lstStyle/>
                    <a:p>
                      <a:pPr algn="ctr"/>
                      <a:r>
                        <a:rPr sz="1000" b="1"/>
                        <a:t>Dataset Used</a:t>
                      </a:r>
                      <a:endParaRPr sz="1000" b="1">
                        <a:latin typeface="Times New Roman"/>
                      </a:endParaRPr>
                    </a:p>
                  </a:txBody>
                  <a:tcPr anchor="ctr"/>
                </a:tc>
                <a:tc>
                  <a:txBody>
                    <a:bodyPr/>
                    <a:lstStyle/>
                    <a:p>
                      <a:pPr algn="ctr"/>
                      <a:r>
                        <a:rPr sz="1000" b="1"/>
                        <a:t>Parameters Analysed</a:t>
                      </a:r>
                      <a:endParaRPr sz="1000" b="1">
                        <a:latin typeface="Times New Roman"/>
                      </a:endParaRPr>
                    </a:p>
                  </a:txBody>
                  <a:tcPr anchor="ctr"/>
                </a:tc>
                <a:tc>
                  <a:txBody>
                    <a:bodyPr/>
                    <a:lstStyle/>
                    <a:p>
                      <a:pPr algn="ctr"/>
                      <a:r>
                        <a:rPr sz="1000" b="1"/>
                        <a:t>Research Inference</a:t>
                      </a:r>
                      <a:endParaRPr sz="1000" b="1">
                        <a:latin typeface="Times New Roman"/>
                      </a:endParaRPr>
                    </a:p>
                  </a:txBody>
                  <a:tcPr anchor="ctr"/>
                </a:tc>
                <a:tc>
                  <a:txBody>
                    <a:bodyPr/>
                    <a:lstStyle/>
                    <a:p>
                      <a:pPr algn="ctr"/>
                      <a:r>
                        <a:rPr sz="1000" b="1"/>
                        <a:t>Research Gap</a:t>
                      </a:r>
                      <a:endParaRPr sz="1000" b="1">
                        <a:latin typeface="Times New Roman"/>
                      </a:endParaRPr>
                    </a:p>
                  </a:txBody>
                  <a:tcPr anchor="ctr"/>
                </a:tc>
                <a:tc>
                  <a:txBody>
                    <a:bodyPr/>
                    <a:lstStyle/>
                    <a:p>
                      <a:pPr algn="ctr"/>
                      <a:r>
                        <a:rPr sz="1000" b="1" dirty="0"/>
                        <a:t>DOI of the paper</a:t>
                      </a:r>
                      <a:endParaRPr sz="1000" b="1" dirty="0">
                        <a:latin typeface="Times New Roman"/>
                      </a:endParaRPr>
                    </a:p>
                  </a:txBody>
                  <a:tcPr anchor="ctr"/>
                </a:tc>
                <a:extLst>
                  <a:ext uri="{0D108BD9-81ED-4DB2-BD59-A6C34878D82A}">
                    <a16:rowId xmlns:a16="http://schemas.microsoft.com/office/drawing/2014/main" val="10000"/>
                  </a:ext>
                </a:extLst>
              </a:tr>
              <a:tr h="1474470">
                <a:tc>
                  <a:txBody>
                    <a:bodyPr/>
                    <a:lstStyle/>
                    <a:p>
                      <a:pPr algn="l"/>
                      <a:r>
                        <a:rPr sz="1000" b="0"/>
                        <a:t>7</a:t>
                      </a:r>
                      <a:endParaRPr sz="1000" b="0">
                        <a:latin typeface="Times New Roman"/>
                      </a:endParaRPr>
                    </a:p>
                  </a:txBody>
                  <a:tcPr marL="22860" marR="22860" marT="22860" marB="18288"/>
                </a:tc>
                <a:tc>
                  <a:txBody>
                    <a:bodyPr/>
                    <a:lstStyle/>
                    <a:p>
                      <a:pPr algn="l"/>
                      <a:r>
                        <a:rPr sz="1000" b="0"/>
                        <a:t>2021</a:t>
                      </a:r>
                      <a:endParaRPr sz="1000" b="0">
                        <a:latin typeface="Times New Roman"/>
                      </a:endParaRPr>
                    </a:p>
                  </a:txBody>
                  <a:tcPr marL="22860" marR="22860" marT="22860" marB="18288"/>
                </a:tc>
                <a:tc>
                  <a:txBody>
                    <a:bodyPr/>
                    <a:lstStyle/>
                    <a:p>
                      <a:pPr algn="l"/>
                      <a:r>
                        <a:rPr sz="1000" b="0"/>
                        <a:t>Shuhan Yuan, Xintao Wu</a:t>
                      </a:r>
                      <a:endParaRPr sz="1000" b="0">
                        <a:latin typeface="Times New Roman"/>
                      </a:endParaRPr>
                    </a:p>
                  </a:txBody>
                  <a:tcPr marL="22860" marR="22860" marT="22860" marB="18288"/>
                </a:tc>
                <a:tc>
                  <a:txBody>
                    <a:bodyPr/>
                    <a:lstStyle/>
                    <a:p>
                      <a:pPr algn="l"/>
                      <a:r>
                        <a:rPr sz="1000" b="0" dirty="0"/>
                        <a:t>Deep Learning for Insider Threat Detection: Review, Challenges and Opportunities</a:t>
                      </a:r>
                      <a:endParaRPr sz="1000" b="0" dirty="0">
                        <a:latin typeface="Times New Roman"/>
                      </a:endParaRPr>
                    </a:p>
                  </a:txBody>
                  <a:tcPr marL="22860" marR="22860" marT="22860" marB="18288"/>
                </a:tc>
                <a:tc>
                  <a:txBody>
                    <a:bodyPr/>
                    <a:lstStyle/>
                    <a:p>
                      <a:pPr algn="l"/>
                      <a:r>
                        <a:rPr sz="1000" b="0" dirty="0"/>
                        <a:t>Computers &amp; Security</a:t>
                      </a:r>
                      <a:endParaRPr sz="1000" b="0" dirty="0">
                        <a:latin typeface="Times New Roman"/>
                      </a:endParaRPr>
                    </a:p>
                  </a:txBody>
                  <a:tcPr marL="22860" marR="22860" marT="22860" marB="18288"/>
                </a:tc>
                <a:tc>
                  <a:txBody>
                    <a:bodyPr/>
                    <a:lstStyle/>
                    <a:p>
                      <a:pPr algn="l"/>
                      <a:r>
                        <a:rPr sz="1000" b="0"/>
                        <a:t>Review deep-learning approaches and challenges in insider-threat detection.</a:t>
                      </a:r>
                      <a:endParaRPr sz="1000" b="0">
                        <a:latin typeface="Times New Roman"/>
                      </a:endParaRPr>
                    </a:p>
                  </a:txBody>
                  <a:tcPr marL="22860" marR="22860" marT="22860" marB="18288"/>
                </a:tc>
                <a:tc>
                  <a:txBody>
                    <a:bodyPr/>
                    <a:lstStyle/>
                    <a:p>
                      <a:pPr algn="l"/>
                      <a:r>
                        <a:rPr sz="1000" b="0"/>
                        <a:t>Deep learning; CNN; RNN; autoencoders; representation learning</a:t>
                      </a:r>
                      <a:endParaRPr sz="1000" b="0">
                        <a:latin typeface="Times New Roman"/>
                      </a:endParaRPr>
                    </a:p>
                  </a:txBody>
                  <a:tcPr marL="22860" marR="22860" marT="22860" marB="18288"/>
                </a:tc>
                <a:tc>
                  <a:txBody>
                    <a:bodyPr/>
                    <a:lstStyle/>
                    <a:p>
                      <a:pPr algn="l"/>
                      <a:r>
                        <a:rPr sz="1000" b="0"/>
                        <a:t>Multiple insider-threat datasets</a:t>
                      </a:r>
                      <a:endParaRPr sz="1000" b="0">
                        <a:latin typeface="Times New Roman"/>
                      </a:endParaRPr>
                    </a:p>
                  </a:txBody>
                  <a:tcPr marL="22860" marR="22860" marT="22860" marB="18288"/>
                </a:tc>
                <a:tc>
                  <a:txBody>
                    <a:bodyPr/>
                    <a:lstStyle/>
                    <a:p>
                      <a:pPr algn="l"/>
                      <a:r>
                        <a:rPr sz="1000" b="0"/>
                        <a:t>High dimensionality; heterogeneity; sparsity; labels; behavioral complexity</a:t>
                      </a:r>
                      <a:endParaRPr sz="1000" b="0">
                        <a:latin typeface="Times New Roman"/>
                      </a:endParaRPr>
                    </a:p>
                  </a:txBody>
                  <a:tcPr marL="22860" marR="22860" marT="22860" marB="18288"/>
                </a:tc>
                <a:tc>
                  <a:txBody>
                    <a:bodyPr/>
                    <a:lstStyle/>
                    <a:p>
                      <a:pPr algn="l"/>
                      <a:r>
                        <a:rPr sz="1000" b="0"/>
                        <a:t>Deep learning can learn complex behavioral representations and reduce manual feature engineering.</a:t>
                      </a:r>
                      <a:endParaRPr sz="1000" b="0">
                        <a:latin typeface="Times New Roman"/>
                      </a:endParaRPr>
                    </a:p>
                  </a:txBody>
                  <a:tcPr marL="22860" marR="22860" marT="22860" marB="18288"/>
                </a:tc>
                <a:tc>
                  <a:txBody>
                    <a:bodyPr/>
                    <a:lstStyle/>
                    <a:p>
                      <a:pPr algn="l"/>
                      <a:r>
                        <a:rPr sz="1000" b="0"/>
                        <a:t>Highlights sequential and explainability challenges but does not provide a unified attack-correlation and risk-scoring framework.</a:t>
                      </a:r>
                      <a:endParaRPr sz="1000" b="0">
                        <a:latin typeface="Times New Roman"/>
                      </a:endParaRPr>
                    </a:p>
                  </a:txBody>
                  <a:tcPr marL="22860" marR="22860" marT="22860" marB="18288"/>
                </a:tc>
                <a:tc>
                  <a:txBody>
                    <a:bodyPr/>
                    <a:lstStyle/>
                    <a:p>
                      <a:pPr algn="l"/>
                      <a:r>
                        <a:rPr sz="1000" b="0" dirty="0"/>
                        <a:t>10.1016/j.cose.2021.102221</a:t>
                      </a:r>
                      <a:endParaRPr sz="1000" b="0" dirty="0">
                        <a:latin typeface="Times New Roman"/>
                      </a:endParaRPr>
                    </a:p>
                  </a:txBody>
                  <a:tcPr marL="22860" marR="22860" marT="22860" marB="18288"/>
                </a:tc>
                <a:extLst>
                  <a:ext uri="{0D108BD9-81ED-4DB2-BD59-A6C34878D82A}">
                    <a16:rowId xmlns:a16="http://schemas.microsoft.com/office/drawing/2014/main" val="10001"/>
                  </a:ext>
                </a:extLst>
              </a:tr>
              <a:tr h="1474470">
                <a:tc>
                  <a:txBody>
                    <a:bodyPr/>
                    <a:lstStyle/>
                    <a:p>
                      <a:pPr algn="l"/>
                      <a:r>
                        <a:rPr sz="1000" b="0"/>
                        <a:t>8</a:t>
                      </a:r>
                      <a:endParaRPr sz="1000" b="0">
                        <a:latin typeface="Times New Roman"/>
                      </a:endParaRPr>
                    </a:p>
                  </a:txBody>
                  <a:tcPr marL="22860" marR="22860" marT="22860" marB="18288"/>
                </a:tc>
                <a:tc>
                  <a:txBody>
                    <a:bodyPr/>
                    <a:lstStyle/>
                    <a:p>
                      <a:pPr algn="l"/>
                      <a:r>
                        <a:rPr sz="1000" b="0"/>
                        <a:t>2021</a:t>
                      </a:r>
                      <a:endParaRPr sz="1000" b="0">
                        <a:latin typeface="Times New Roman"/>
                      </a:endParaRPr>
                    </a:p>
                  </a:txBody>
                  <a:tcPr marL="22860" marR="22860" marT="22860" marB="18288"/>
                </a:tc>
                <a:tc>
                  <a:txBody>
                    <a:bodyPr/>
                    <a:lstStyle/>
                    <a:p>
                      <a:pPr algn="l"/>
                      <a:r>
                        <a:rPr sz="1000" b="0"/>
                        <a:t>Rida Nasir, Mehreen Afzal, Rabia Latif, Waseem Iqbal</a:t>
                      </a:r>
                      <a:endParaRPr sz="1000" b="0">
                        <a:latin typeface="Times New Roman"/>
                      </a:endParaRPr>
                    </a:p>
                  </a:txBody>
                  <a:tcPr marL="22860" marR="22860" marT="22860" marB="18288"/>
                </a:tc>
                <a:tc>
                  <a:txBody>
                    <a:bodyPr/>
                    <a:lstStyle/>
                    <a:p>
                      <a:pPr algn="l"/>
                      <a:r>
                        <a:rPr sz="1000" b="0"/>
                        <a:t>Behavioral Based Insider Threat Detection Using Deep Learning</a:t>
                      </a:r>
                      <a:endParaRPr sz="1000" b="0">
                        <a:latin typeface="Times New Roman"/>
                      </a:endParaRPr>
                    </a:p>
                  </a:txBody>
                  <a:tcPr marL="22860" marR="22860" marT="22860" marB="18288"/>
                </a:tc>
                <a:tc>
                  <a:txBody>
                    <a:bodyPr/>
                    <a:lstStyle/>
                    <a:p>
                      <a:pPr algn="l"/>
                      <a:r>
                        <a:rPr sz="1000" b="0" dirty="0"/>
                        <a:t>IEEE Access</a:t>
                      </a:r>
                      <a:endParaRPr sz="1000" b="0" dirty="0">
                        <a:latin typeface="Times New Roman"/>
                      </a:endParaRPr>
                    </a:p>
                  </a:txBody>
                  <a:tcPr marL="22860" marR="22860" marT="22860" marB="18288"/>
                </a:tc>
                <a:tc>
                  <a:txBody>
                    <a:bodyPr/>
                    <a:lstStyle/>
                    <a:p>
                      <a:pPr algn="l"/>
                      <a:r>
                        <a:rPr sz="1000" b="0" dirty="0"/>
                        <a:t>Detect insider threats using user behavioral characteristics and deep-learning models.</a:t>
                      </a:r>
                      <a:endParaRPr sz="1000" b="0" dirty="0">
                        <a:latin typeface="Times New Roman"/>
                      </a:endParaRPr>
                    </a:p>
                  </a:txBody>
                  <a:tcPr marL="22860" marR="22860" marT="22860" marB="18288"/>
                </a:tc>
                <a:tc>
                  <a:txBody>
                    <a:bodyPr/>
                    <a:lstStyle/>
                    <a:p>
                      <a:pPr algn="l"/>
                      <a:r>
                        <a:rPr sz="1000" b="0" dirty="0"/>
                        <a:t>LSTM-CNN; LSTM-RNN; RF; One-Class SVM; Markov Chain; GRU</a:t>
                      </a:r>
                      <a:endParaRPr sz="1000" b="0" dirty="0">
                        <a:latin typeface="Times New Roman"/>
                      </a:endParaRPr>
                    </a:p>
                  </a:txBody>
                  <a:tcPr marL="22860" marR="22860" marT="22860" marB="18288"/>
                </a:tc>
                <a:tc>
                  <a:txBody>
                    <a:bodyPr/>
                    <a:lstStyle/>
                    <a:p>
                      <a:pPr algn="l"/>
                      <a:r>
                        <a:rPr sz="1000" b="0"/>
                        <a:t>CMU CERT r4.2</a:t>
                      </a:r>
                      <a:endParaRPr sz="1000" b="0">
                        <a:latin typeface="Times New Roman"/>
                      </a:endParaRPr>
                    </a:p>
                  </a:txBody>
                  <a:tcPr marL="22860" marR="22860" marT="22860" marB="18288"/>
                </a:tc>
                <a:tc>
                  <a:txBody>
                    <a:bodyPr/>
                    <a:lstStyle/>
                    <a:p>
                      <a:pPr algn="l"/>
                      <a:r>
                        <a:rPr sz="1000" b="0"/>
                        <a:t>Logon/logoff; user role; functional unit; behavioral features</a:t>
                      </a:r>
                      <a:endParaRPr sz="1000" b="0">
                        <a:latin typeface="Times New Roman"/>
                      </a:endParaRPr>
                    </a:p>
                  </a:txBody>
                  <a:tcPr marL="22860" marR="22860" marT="22860" marB="18288"/>
                </a:tc>
                <a:tc>
                  <a:txBody>
                    <a:bodyPr/>
                    <a:lstStyle/>
                    <a:p>
                      <a:pPr algn="l"/>
                      <a:r>
                        <a:rPr sz="1000" b="0"/>
                        <a:t>Deep learning provides effective detection from user behavioral characteristics.</a:t>
                      </a:r>
                      <a:endParaRPr sz="1000" b="0">
                        <a:latin typeface="Times New Roman"/>
                      </a:endParaRPr>
                    </a:p>
                  </a:txBody>
                  <a:tcPr marL="22860" marR="22860" marT="22860" marB="18288"/>
                </a:tc>
                <a:tc>
                  <a:txBody>
                    <a:bodyPr/>
                    <a:lstStyle/>
                    <a:p>
                      <a:pPr algn="l"/>
                      <a:r>
                        <a:rPr sz="1000" b="0"/>
                        <a:t>Primarily focuses on behavior classification and does not integrate attack-sequence reconstruction, resource sensitivity and explainable risk scoring.</a:t>
                      </a:r>
                      <a:endParaRPr sz="1000" b="0">
                        <a:latin typeface="Times New Roman"/>
                      </a:endParaRPr>
                    </a:p>
                  </a:txBody>
                  <a:tcPr marL="22860" marR="22860" marT="22860" marB="18288"/>
                </a:tc>
                <a:tc>
                  <a:txBody>
                    <a:bodyPr/>
                    <a:lstStyle/>
                    <a:p>
                      <a:pPr algn="l"/>
                      <a:r>
                        <a:rPr sz="1000" b="0" dirty="0"/>
                        <a:t>10.1109/ACCESS.2021.3118297</a:t>
                      </a:r>
                      <a:endParaRPr sz="1000" b="0" dirty="0">
                        <a:latin typeface="Times New Roman"/>
                      </a:endParaRPr>
                    </a:p>
                  </a:txBody>
                  <a:tcPr marL="22860" marR="22860" marT="22860" marB="18288"/>
                </a:tc>
                <a:extLst>
                  <a:ext uri="{0D108BD9-81ED-4DB2-BD59-A6C34878D82A}">
                    <a16:rowId xmlns:a16="http://schemas.microsoft.com/office/drawing/2014/main" val="10002"/>
                  </a:ext>
                </a:extLst>
              </a:tr>
              <a:tr h="1474470">
                <a:tc>
                  <a:txBody>
                    <a:bodyPr/>
                    <a:lstStyle/>
                    <a:p>
                      <a:pPr algn="l"/>
                      <a:r>
                        <a:rPr sz="1000" b="0"/>
                        <a:t>9</a:t>
                      </a:r>
                      <a:endParaRPr sz="1000" b="0">
                        <a:latin typeface="Times New Roman"/>
                      </a:endParaRPr>
                    </a:p>
                  </a:txBody>
                  <a:tcPr marL="22860" marR="22860" marT="22860" marB="18288"/>
                </a:tc>
                <a:tc>
                  <a:txBody>
                    <a:bodyPr/>
                    <a:lstStyle/>
                    <a:p>
                      <a:pPr algn="l"/>
                      <a:r>
                        <a:rPr sz="1000" b="0"/>
                        <a:t>2021</a:t>
                      </a:r>
                      <a:endParaRPr sz="1000" b="0">
                        <a:latin typeface="Times New Roman"/>
                      </a:endParaRPr>
                    </a:p>
                  </a:txBody>
                  <a:tcPr marL="22860" marR="22860" marT="22860" marB="18288"/>
                </a:tc>
                <a:tc>
                  <a:txBody>
                    <a:bodyPr/>
                    <a:lstStyle/>
                    <a:p>
                      <a:pPr algn="l"/>
                      <a:r>
                        <a:rPr sz="1000" b="0"/>
                        <a:t>Duc C. Le, Nur Zincir-Heywood</a:t>
                      </a:r>
                      <a:endParaRPr sz="1000" b="0">
                        <a:latin typeface="Times New Roman"/>
                      </a:endParaRPr>
                    </a:p>
                  </a:txBody>
                  <a:tcPr marL="22860" marR="22860" marT="22860" marB="18288"/>
                </a:tc>
                <a:tc>
                  <a:txBody>
                    <a:bodyPr/>
                    <a:lstStyle/>
                    <a:p>
                      <a:pPr algn="l"/>
                      <a:r>
                        <a:rPr sz="1000" b="0"/>
                        <a:t>Anomaly Detection for Insider Threats Using Unsupervised Ensembles</a:t>
                      </a:r>
                      <a:endParaRPr sz="1000" b="0">
                        <a:latin typeface="Times New Roman"/>
                      </a:endParaRPr>
                    </a:p>
                  </a:txBody>
                  <a:tcPr marL="22860" marR="22860" marT="22860" marB="18288"/>
                </a:tc>
                <a:tc>
                  <a:txBody>
                    <a:bodyPr/>
                    <a:lstStyle/>
                    <a:p>
                      <a:pPr algn="l"/>
                      <a:r>
                        <a:rPr sz="1000" b="0"/>
                        <a:t>IEEE Transactions on Network and Service Management</a:t>
                      </a:r>
                      <a:endParaRPr sz="1000" b="0">
                        <a:latin typeface="Times New Roman"/>
                      </a:endParaRPr>
                    </a:p>
                  </a:txBody>
                  <a:tcPr marL="22860" marR="22860" marT="22860" marB="18288"/>
                </a:tc>
                <a:tc>
                  <a:txBody>
                    <a:bodyPr/>
                    <a:lstStyle/>
                    <a:p>
                      <a:pPr algn="l"/>
                      <a:r>
                        <a:rPr sz="1000" b="0"/>
                        <a:t>Detect insider threats without relying heavily on labeled threat data.</a:t>
                      </a:r>
                      <a:endParaRPr sz="1000" b="0">
                        <a:latin typeface="Times New Roman"/>
                      </a:endParaRPr>
                    </a:p>
                  </a:txBody>
                  <a:tcPr marL="22860" marR="22860" marT="22860" marB="18288"/>
                </a:tc>
                <a:tc>
                  <a:txBody>
                    <a:bodyPr/>
                    <a:lstStyle/>
                    <a:p>
                      <a:pPr algn="l"/>
                      <a:r>
                        <a:rPr sz="1000" b="0" dirty="0"/>
                        <a:t>Unsupervised learning; anomaly detection; ensemble methods</a:t>
                      </a:r>
                      <a:endParaRPr sz="1000" b="0" dirty="0">
                        <a:latin typeface="Times New Roman"/>
                      </a:endParaRPr>
                    </a:p>
                  </a:txBody>
                  <a:tcPr marL="22860" marR="22860" marT="22860" marB="18288"/>
                </a:tc>
                <a:tc>
                  <a:txBody>
                    <a:bodyPr/>
                    <a:lstStyle/>
                    <a:p>
                      <a:pPr algn="l"/>
                      <a:r>
                        <a:rPr sz="1000" b="0" dirty="0"/>
                        <a:t>CERT Insider Threat datasets</a:t>
                      </a:r>
                      <a:endParaRPr sz="1000" b="0" dirty="0">
                        <a:latin typeface="Times New Roman"/>
                      </a:endParaRPr>
                    </a:p>
                  </a:txBody>
                  <a:tcPr marL="22860" marR="22860" marT="22860" marB="18288"/>
                </a:tc>
                <a:tc>
                  <a:txBody>
                    <a:bodyPr/>
                    <a:lstStyle/>
                    <a:p>
                      <a:pPr algn="l"/>
                      <a:r>
                        <a:rPr sz="1000" b="0" dirty="0"/>
                        <a:t>Temporal information; anomaly scores; false positives; investigation budget</a:t>
                      </a:r>
                      <a:endParaRPr sz="1000" b="0" dirty="0">
                        <a:latin typeface="Times New Roman"/>
                      </a:endParaRPr>
                    </a:p>
                  </a:txBody>
                  <a:tcPr marL="22860" marR="22860" marT="22860" marB="18288"/>
                </a:tc>
                <a:tc>
                  <a:txBody>
                    <a:bodyPr/>
                    <a:lstStyle/>
                    <a:p>
                      <a:pPr algn="l"/>
                      <a:r>
                        <a:rPr sz="1000" b="0" dirty="0"/>
                        <a:t>Combining unsupervised models improves robustness to unseen anomalous behavior.</a:t>
                      </a:r>
                      <a:endParaRPr sz="1000" b="0" dirty="0">
                        <a:latin typeface="Times New Roman"/>
                      </a:endParaRPr>
                    </a:p>
                  </a:txBody>
                  <a:tcPr marL="22860" marR="22860" marT="22860" marB="18288"/>
                </a:tc>
                <a:tc>
                  <a:txBody>
                    <a:bodyPr/>
                    <a:lstStyle/>
                    <a:p>
                      <a:pPr algn="l"/>
                      <a:r>
                        <a:rPr sz="1000" b="0" dirty="0"/>
                        <a:t>Does not build an explainable attack narrative or incorporate resource sensitivity into risk calculation.</a:t>
                      </a:r>
                      <a:endParaRPr sz="1000" b="0" dirty="0">
                        <a:latin typeface="Times New Roman"/>
                      </a:endParaRPr>
                    </a:p>
                  </a:txBody>
                  <a:tcPr marL="22860" marR="22860" marT="22860" marB="18288"/>
                </a:tc>
                <a:tc>
                  <a:txBody>
                    <a:bodyPr/>
                    <a:lstStyle/>
                    <a:p>
                      <a:pPr algn="l"/>
                      <a:r>
                        <a:rPr sz="1000" b="0" dirty="0"/>
                        <a:t>10.1109/TNSM.2021.3071928</a:t>
                      </a:r>
                      <a:endParaRPr sz="1000" b="0" dirty="0">
                        <a:latin typeface="Times New Roman"/>
                      </a:endParaRPr>
                    </a:p>
                  </a:txBody>
                  <a:tcPr marL="22860" marR="22860" marT="22860" marB="18288"/>
                </a:tc>
                <a:extLst>
                  <a:ext uri="{0D108BD9-81ED-4DB2-BD59-A6C34878D82A}">
                    <a16:rowId xmlns:a16="http://schemas.microsoft.com/office/drawing/2014/main" val="10003"/>
                  </a:ext>
                </a:extLst>
              </a:tr>
            </a:tbl>
          </a:graphicData>
        </a:graphic>
      </p:graphicFrame>
      <p:sp>
        <p:nvSpPr>
          <p:cNvPr id="4" name="TextBox 3"/>
          <p:cNvSpPr txBox="1"/>
          <p:nvPr/>
        </p:nvSpPr>
        <p:spPr>
          <a:xfrm>
            <a:off x="182880" y="6565392"/>
            <a:ext cx="11704320" cy="164592"/>
          </a:xfrm>
          <a:prstGeom prst="rect">
            <a:avLst/>
          </a:prstGeom>
          <a:noFill/>
        </p:spPr>
        <p:txBody>
          <a:bodyPr wrap="none">
            <a:spAutoFit/>
          </a:bodyPr>
          <a:lstStyle/>
          <a:p>
            <a:pPr algn="ctr"/>
            <a:r>
              <a:rPr sz="650">
                <a:latin typeface="Times New Roman"/>
              </a:rPr>
              <a:t>Team No. 13  |  AI-Driven Insider Threat Detection Through Behavioral Analytics and Attack Sequence Correlation  |  3/6</a:t>
            </a:r>
          </a:p>
        </p:txBody>
      </p:sp>
      <p:pic>
        <p:nvPicPr>
          <p:cNvPr id="6" name="Picture 5">
            <a:extLst>
              <a:ext uri="{FF2B5EF4-FFF2-40B4-BE49-F238E27FC236}">
                <a16:creationId xmlns:a16="http://schemas.microsoft.com/office/drawing/2014/main" id="{6FF83BB9-6B4C-F33F-A8D7-BE9AFD51C322}"/>
              </a:ext>
            </a:extLst>
          </p:cNvPr>
          <p:cNvPicPr>
            <a:picLocks noChangeAspect="1"/>
          </p:cNvPicPr>
          <p:nvPr/>
        </p:nvPicPr>
        <p:blipFill>
          <a:blip r:embed="rId2"/>
          <a:stretch>
            <a:fillRect/>
          </a:stretch>
        </p:blipFill>
        <p:spPr>
          <a:xfrm>
            <a:off x="1" y="-396"/>
            <a:ext cx="1458484" cy="69086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37160" y="73152"/>
            <a:ext cx="11841480" cy="502920"/>
          </a:xfrm>
          <a:prstGeom prst="rect">
            <a:avLst/>
          </a:prstGeom>
          <a:noFill/>
        </p:spPr>
        <p:txBody>
          <a:bodyPr wrap="none">
            <a:spAutoFit/>
          </a:bodyPr>
          <a:lstStyle/>
          <a:p>
            <a:pPr algn="ctr"/>
            <a:r>
              <a:rPr sz="2200" b="1">
                <a:latin typeface="Times New Roman"/>
              </a:rPr>
              <a:t>Literature Survey – Papers 10–12</a:t>
            </a:r>
          </a:p>
        </p:txBody>
      </p:sp>
      <p:graphicFrame>
        <p:nvGraphicFramePr>
          <p:cNvPr id="3" name="Table 2"/>
          <p:cNvGraphicFramePr>
            <a:graphicFrameLocks noGrp="1"/>
          </p:cNvGraphicFramePr>
          <p:nvPr>
            <p:extLst>
              <p:ext uri="{D42A27DB-BD31-4B8C-83A1-F6EECF244321}">
                <p14:modId xmlns:p14="http://schemas.microsoft.com/office/powerpoint/2010/main" val="4074213037"/>
              </p:ext>
            </p:extLst>
          </p:nvPr>
        </p:nvGraphicFramePr>
        <p:xfrm>
          <a:off x="73152" y="658368"/>
          <a:ext cx="12042648" cy="5897880"/>
        </p:xfrm>
        <a:graphic>
          <a:graphicData uri="http://schemas.openxmlformats.org/drawingml/2006/table">
            <a:tbl>
              <a:tblPr firstRow="1" bandRow="1">
                <a:tableStyleId>{5940675A-B579-460E-94D1-54222C63F5DA}</a:tableStyleId>
              </a:tblPr>
              <a:tblGrid>
                <a:gridCol w="384048">
                  <a:extLst>
                    <a:ext uri="{9D8B030D-6E8A-4147-A177-3AD203B41FA5}">
                      <a16:colId xmlns:a16="http://schemas.microsoft.com/office/drawing/2014/main" val="20000"/>
                    </a:ext>
                  </a:extLst>
                </a:gridCol>
                <a:gridCol w="566928">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389888">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gridCol w="822960">
                  <a:extLst>
                    <a:ext uri="{9D8B030D-6E8A-4147-A177-3AD203B41FA5}">
                      <a16:colId xmlns:a16="http://schemas.microsoft.com/office/drawing/2014/main" val="20007"/>
                    </a:ext>
                  </a:extLst>
                </a:gridCol>
                <a:gridCol w="1005840">
                  <a:extLst>
                    <a:ext uri="{9D8B030D-6E8A-4147-A177-3AD203B41FA5}">
                      <a16:colId xmlns:a16="http://schemas.microsoft.com/office/drawing/2014/main" val="20008"/>
                    </a:ext>
                  </a:extLst>
                </a:gridCol>
                <a:gridCol w="1143000">
                  <a:extLst>
                    <a:ext uri="{9D8B030D-6E8A-4147-A177-3AD203B41FA5}">
                      <a16:colId xmlns:a16="http://schemas.microsoft.com/office/drawing/2014/main" val="20009"/>
                    </a:ext>
                  </a:extLst>
                </a:gridCol>
                <a:gridCol w="1234440">
                  <a:extLst>
                    <a:ext uri="{9D8B030D-6E8A-4147-A177-3AD203B41FA5}">
                      <a16:colId xmlns:a16="http://schemas.microsoft.com/office/drawing/2014/main" val="20010"/>
                    </a:ext>
                  </a:extLst>
                </a:gridCol>
                <a:gridCol w="1335024">
                  <a:extLst>
                    <a:ext uri="{9D8B030D-6E8A-4147-A177-3AD203B41FA5}">
                      <a16:colId xmlns:a16="http://schemas.microsoft.com/office/drawing/2014/main" val="20011"/>
                    </a:ext>
                  </a:extLst>
                </a:gridCol>
              </a:tblGrid>
              <a:tr h="1474470">
                <a:tc>
                  <a:txBody>
                    <a:bodyPr/>
                    <a:lstStyle/>
                    <a:p>
                      <a:pPr algn="ctr"/>
                      <a:r>
                        <a:rPr sz="1000" b="1" dirty="0" err="1"/>
                        <a:t>Sl</a:t>
                      </a:r>
                      <a:r>
                        <a:rPr sz="1000" b="1" dirty="0"/>
                        <a:t> No</a:t>
                      </a:r>
                      <a:endParaRPr sz="1000" b="1" dirty="0">
                        <a:latin typeface="Times New Roman"/>
                      </a:endParaRPr>
                    </a:p>
                  </a:txBody>
                  <a:tcPr anchor="ctr"/>
                </a:tc>
                <a:tc>
                  <a:txBody>
                    <a:bodyPr/>
                    <a:lstStyle/>
                    <a:p>
                      <a:pPr algn="ctr"/>
                      <a:r>
                        <a:rPr sz="1000" b="1" dirty="0"/>
                        <a:t>Year</a:t>
                      </a:r>
                    </a:p>
                    <a:p>
                      <a:pPr algn="ctr"/>
                      <a:r>
                        <a:rPr sz="1000" b="1" dirty="0"/>
                        <a:t>(2020 onwards</a:t>
                      </a:r>
                    </a:p>
                    <a:p>
                      <a:pPr algn="ctr"/>
                      <a:r>
                        <a:rPr sz="1000" b="1" dirty="0"/>
                        <a:t>papers)</a:t>
                      </a:r>
                      <a:endParaRPr sz="1000" b="1" dirty="0">
                        <a:latin typeface="Times New Roman"/>
                      </a:endParaRPr>
                    </a:p>
                  </a:txBody>
                  <a:tcPr anchor="ctr"/>
                </a:tc>
                <a:tc>
                  <a:txBody>
                    <a:bodyPr/>
                    <a:lstStyle/>
                    <a:p>
                      <a:pPr algn="ctr"/>
                      <a:r>
                        <a:rPr sz="1000" b="1" dirty="0"/>
                        <a:t>Authors</a:t>
                      </a:r>
                      <a:endParaRPr sz="1000" b="1" dirty="0">
                        <a:latin typeface="Times New Roman"/>
                      </a:endParaRPr>
                    </a:p>
                  </a:txBody>
                  <a:tcPr anchor="ctr"/>
                </a:tc>
                <a:tc>
                  <a:txBody>
                    <a:bodyPr/>
                    <a:lstStyle/>
                    <a:p>
                      <a:pPr algn="ctr"/>
                      <a:r>
                        <a:rPr sz="1000" b="1" dirty="0"/>
                        <a:t>Title of the paper</a:t>
                      </a:r>
                      <a:endParaRPr sz="1000" b="1" dirty="0">
                        <a:latin typeface="Times New Roman"/>
                      </a:endParaRPr>
                    </a:p>
                  </a:txBody>
                  <a:tcPr anchor="ctr"/>
                </a:tc>
                <a:tc>
                  <a:txBody>
                    <a:bodyPr/>
                    <a:lstStyle/>
                    <a:p>
                      <a:pPr algn="ctr"/>
                      <a:r>
                        <a:rPr sz="1000" b="1"/>
                        <a:t>Source (Journal/</a:t>
                      </a:r>
                    </a:p>
                    <a:p>
                      <a:pPr algn="ctr"/>
                      <a:r>
                        <a:rPr sz="1000" b="1"/>
                        <a:t>Conference name)</a:t>
                      </a:r>
                      <a:endParaRPr sz="1000" b="1">
                        <a:latin typeface="Times New Roman"/>
                      </a:endParaRPr>
                    </a:p>
                  </a:txBody>
                  <a:tcPr anchor="ctr"/>
                </a:tc>
                <a:tc>
                  <a:txBody>
                    <a:bodyPr/>
                    <a:lstStyle/>
                    <a:p>
                      <a:pPr algn="ctr"/>
                      <a:r>
                        <a:rPr sz="1000" b="1"/>
                        <a:t>Objective of the paper</a:t>
                      </a:r>
                      <a:endParaRPr sz="1000" b="1">
                        <a:latin typeface="Times New Roman"/>
                      </a:endParaRPr>
                    </a:p>
                  </a:txBody>
                  <a:tcPr anchor="ctr"/>
                </a:tc>
                <a:tc>
                  <a:txBody>
                    <a:bodyPr/>
                    <a:lstStyle/>
                    <a:p>
                      <a:pPr algn="ctr"/>
                      <a:r>
                        <a:rPr sz="1000" b="1"/>
                        <a:t>Techniques Used</a:t>
                      </a:r>
                      <a:endParaRPr sz="1000" b="1">
                        <a:latin typeface="Times New Roman"/>
                      </a:endParaRPr>
                    </a:p>
                  </a:txBody>
                  <a:tcPr anchor="ctr"/>
                </a:tc>
                <a:tc>
                  <a:txBody>
                    <a:bodyPr/>
                    <a:lstStyle/>
                    <a:p>
                      <a:pPr algn="ctr"/>
                      <a:r>
                        <a:rPr sz="1000" b="1"/>
                        <a:t>Dataset Used</a:t>
                      </a:r>
                      <a:endParaRPr sz="1000" b="1">
                        <a:latin typeface="Times New Roman"/>
                      </a:endParaRPr>
                    </a:p>
                  </a:txBody>
                  <a:tcPr anchor="ctr"/>
                </a:tc>
                <a:tc>
                  <a:txBody>
                    <a:bodyPr/>
                    <a:lstStyle/>
                    <a:p>
                      <a:pPr algn="ctr"/>
                      <a:r>
                        <a:rPr sz="1000" b="1"/>
                        <a:t>Parameters Analysed</a:t>
                      </a:r>
                      <a:endParaRPr sz="1000" b="1">
                        <a:latin typeface="Times New Roman"/>
                      </a:endParaRPr>
                    </a:p>
                  </a:txBody>
                  <a:tcPr anchor="ctr"/>
                </a:tc>
                <a:tc>
                  <a:txBody>
                    <a:bodyPr/>
                    <a:lstStyle/>
                    <a:p>
                      <a:pPr algn="ctr"/>
                      <a:r>
                        <a:rPr sz="1000" b="1"/>
                        <a:t>Research Inference</a:t>
                      </a:r>
                      <a:endParaRPr sz="1000" b="1">
                        <a:latin typeface="Times New Roman"/>
                      </a:endParaRPr>
                    </a:p>
                  </a:txBody>
                  <a:tcPr anchor="ctr"/>
                </a:tc>
                <a:tc>
                  <a:txBody>
                    <a:bodyPr/>
                    <a:lstStyle/>
                    <a:p>
                      <a:pPr algn="ctr"/>
                      <a:r>
                        <a:rPr sz="1000" b="1"/>
                        <a:t>Research Gap</a:t>
                      </a:r>
                      <a:endParaRPr sz="1000" b="1">
                        <a:latin typeface="Times New Roman"/>
                      </a:endParaRPr>
                    </a:p>
                  </a:txBody>
                  <a:tcPr anchor="ctr"/>
                </a:tc>
                <a:tc>
                  <a:txBody>
                    <a:bodyPr/>
                    <a:lstStyle/>
                    <a:p>
                      <a:pPr algn="ctr"/>
                      <a:r>
                        <a:rPr sz="1000" b="1" dirty="0"/>
                        <a:t>DOI of the paper</a:t>
                      </a:r>
                      <a:endParaRPr sz="1000" b="1" dirty="0">
                        <a:latin typeface="Times New Roman"/>
                      </a:endParaRPr>
                    </a:p>
                  </a:txBody>
                  <a:tcPr anchor="ctr"/>
                </a:tc>
                <a:extLst>
                  <a:ext uri="{0D108BD9-81ED-4DB2-BD59-A6C34878D82A}">
                    <a16:rowId xmlns:a16="http://schemas.microsoft.com/office/drawing/2014/main" val="10000"/>
                  </a:ext>
                </a:extLst>
              </a:tr>
              <a:tr h="1474470">
                <a:tc>
                  <a:txBody>
                    <a:bodyPr/>
                    <a:lstStyle/>
                    <a:p>
                      <a:pPr algn="l"/>
                      <a:r>
                        <a:rPr sz="1000" b="0"/>
                        <a:t>10</a:t>
                      </a:r>
                      <a:endParaRPr sz="1000" b="0">
                        <a:latin typeface="Times New Roman"/>
                      </a:endParaRPr>
                    </a:p>
                  </a:txBody>
                  <a:tcPr marL="22860" marR="22860" marT="22860" marB="18288"/>
                </a:tc>
                <a:tc>
                  <a:txBody>
                    <a:bodyPr/>
                    <a:lstStyle/>
                    <a:p>
                      <a:pPr algn="l"/>
                      <a:r>
                        <a:rPr sz="1000" b="0"/>
                        <a:t>2021</a:t>
                      </a:r>
                      <a:endParaRPr sz="1000" b="0">
                        <a:latin typeface="Times New Roman"/>
                      </a:endParaRPr>
                    </a:p>
                  </a:txBody>
                  <a:tcPr marL="22860" marR="22860" marT="22860" marB="18288"/>
                </a:tc>
                <a:tc>
                  <a:txBody>
                    <a:bodyPr/>
                    <a:lstStyle/>
                    <a:p>
                      <a:pPr algn="l"/>
                      <a:r>
                        <a:rPr sz="1000" b="0"/>
                        <a:t>Taher Al-Shehari, Rakan A. Alsowail</a:t>
                      </a:r>
                      <a:endParaRPr sz="1000" b="0">
                        <a:latin typeface="Times New Roman"/>
                      </a:endParaRPr>
                    </a:p>
                  </a:txBody>
                  <a:tcPr marL="22860" marR="22860" marT="22860" marB="18288"/>
                </a:tc>
                <a:tc>
                  <a:txBody>
                    <a:bodyPr/>
                    <a:lstStyle/>
                    <a:p>
                      <a:pPr algn="l"/>
                      <a:r>
                        <a:rPr sz="1000" b="0" dirty="0"/>
                        <a:t>An Insider Data Leakage Detection Using One-Hot Encoding, Synthetic Minority Oversampling and Machine Learning Techniques</a:t>
                      </a:r>
                      <a:endParaRPr sz="1000" b="0" dirty="0">
                        <a:latin typeface="Times New Roman"/>
                      </a:endParaRPr>
                    </a:p>
                  </a:txBody>
                  <a:tcPr marL="22860" marR="22860" marT="22860" marB="18288"/>
                </a:tc>
                <a:tc>
                  <a:txBody>
                    <a:bodyPr/>
                    <a:lstStyle/>
                    <a:p>
                      <a:pPr algn="l"/>
                      <a:r>
                        <a:rPr sz="1000" b="0" dirty="0"/>
                        <a:t>Entropy</a:t>
                      </a:r>
                      <a:endParaRPr sz="1000" b="0" dirty="0">
                        <a:latin typeface="Times New Roman"/>
                      </a:endParaRPr>
                    </a:p>
                  </a:txBody>
                  <a:tcPr marL="22860" marR="22860" marT="22860" marB="18288"/>
                </a:tc>
                <a:tc>
                  <a:txBody>
                    <a:bodyPr/>
                    <a:lstStyle/>
                    <a:p>
                      <a:pPr algn="l"/>
                      <a:r>
                        <a:rPr sz="1000" b="0"/>
                        <a:t>Detect insider data leakage while addressing feature encoding and class imbalance.</a:t>
                      </a:r>
                      <a:endParaRPr sz="1000" b="0">
                        <a:latin typeface="Times New Roman"/>
                      </a:endParaRPr>
                    </a:p>
                  </a:txBody>
                  <a:tcPr marL="22860" marR="22860" marT="22860" marB="18288"/>
                </a:tc>
                <a:tc>
                  <a:txBody>
                    <a:bodyPr/>
                    <a:lstStyle/>
                    <a:p>
                      <a:pPr algn="l"/>
                      <a:r>
                        <a:rPr sz="1000" b="0"/>
                        <a:t>One-hot encoding; scaling; SMOTE; LR; DT; RF; NB; KNN; SVM</a:t>
                      </a:r>
                      <a:endParaRPr sz="1000" b="0">
                        <a:latin typeface="Times New Roman"/>
                      </a:endParaRPr>
                    </a:p>
                  </a:txBody>
                  <a:tcPr marL="22860" marR="22860" marT="22860" marB="18288"/>
                </a:tc>
                <a:tc>
                  <a:txBody>
                    <a:bodyPr/>
                    <a:lstStyle/>
                    <a:p>
                      <a:pPr algn="l"/>
                      <a:r>
                        <a:rPr sz="1000" b="0"/>
                        <a:t>CMU CERT Insider Threat Dataset</a:t>
                      </a:r>
                      <a:endParaRPr sz="1000" b="0">
                        <a:latin typeface="Times New Roman"/>
                      </a:endParaRPr>
                    </a:p>
                  </a:txBody>
                  <a:tcPr marL="22860" marR="22860" marT="22860" marB="18288"/>
                </a:tc>
                <a:tc>
                  <a:txBody>
                    <a:bodyPr/>
                    <a:lstStyle/>
                    <a:p>
                      <a:pPr algn="l"/>
                      <a:r>
                        <a:rPr sz="1000" b="0"/>
                        <a:t>Login; USB; website; logoff; data-leakage activities</a:t>
                      </a:r>
                      <a:endParaRPr sz="1000" b="0">
                        <a:latin typeface="Times New Roman"/>
                      </a:endParaRPr>
                    </a:p>
                  </a:txBody>
                  <a:tcPr marL="22860" marR="22860" marT="22860" marB="18288"/>
                </a:tc>
                <a:tc>
                  <a:txBody>
                    <a:bodyPr/>
                    <a:lstStyle/>
                    <a:p>
                      <a:pPr algn="l"/>
                      <a:r>
                        <a:rPr sz="1000" b="0"/>
                        <a:t>Encoding and SMOTE improve insider data-leakage detection.</a:t>
                      </a:r>
                      <a:endParaRPr sz="1000" b="0">
                        <a:latin typeface="Times New Roman"/>
                      </a:endParaRPr>
                    </a:p>
                  </a:txBody>
                  <a:tcPr marL="22860" marR="22860" marT="22860" marB="18288"/>
                </a:tc>
                <a:tc>
                  <a:txBody>
                    <a:bodyPr/>
                    <a:lstStyle/>
                    <a:p>
                      <a:pPr algn="l"/>
                      <a:r>
                        <a:rPr sz="1000" b="0"/>
                        <a:t>Focuses on data-leakage classification rather than complete activity-sequence correlation and contextual risk assessment.</a:t>
                      </a:r>
                      <a:endParaRPr sz="1000" b="0">
                        <a:latin typeface="Times New Roman"/>
                      </a:endParaRPr>
                    </a:p>
                  </a:txBody>
                  <a:tcPr marL="22860" marR="22860" marT="22860" marB="18288"/>
                </a:tc>
                <a:tc>
                  <a:txBody>
                    <a:bodyPr/>
                    <a:lstStyle/>
                    <a:p>
                      <a:pPr algn="l"/>
                      <a:r>
                        <a:rPr sz="1000" b="0" dirty="0"/>
                        <a:t>10.3390/e23101258</a:t>
                      </a:r>
                      <a:endParaRPr sz="1000" b="0" dirty="0">
                        <a:latin typeface="Times New Roman"/>
                      </a:endParaRPr>
                    </a:p>
                  </a:txBody>
                  <a:tcPr marL="22860" marR="22860" marT="22860" marB="18288"/>
                </a:tc>
                <a:extLst>
                  <a:ext uri="{0D108BD9-81ED-4DB2-BD59-A6C34878D82A}">
                    <a16:rowId xmlns:a16="http://schemas.microsoft.com/office/drawing/2014/main" val="10001"/>
                  </a:ext>
                </a:extLst>
              </a:tr>
              <a:tr h="1474470">
                <a:tc>
                  <a:txBody>
                    <a:bodyPr/>
                    <a:lstStyle/>
                    <a:p>
                      <a:pPr algn="l"/>
                      <a:r>
                        <a:rPr sz="1000" b="0"/>
                        <a:t>11</a:t>
                      </a:r>
                      <a:endParaRPr sz="1000" b="0">
                        <a:latin typeface="Times New Roman"/>
                      </a:endParaRPr>
                    </a:p>
                  </a:txBody>
                  <a:tcPr marL="22860" marR="22860" marT="22860" marB="18288"/>
                </a:tc>
                <a:tc>
                  <a:txBody>
                    <a:bodyPr/>
                    <a:lstStyle/>
                    <a:p>
                      <a:pPr algn="l"/>
                      <a:r>
                        <a:rPr sz="1000" b="0"/>
                        <a:t>2021</a:t>
                      </a:r>
                      <a:endParaRPr sz="1000" b="0">
                        <a:latin typeface="Times New Roman"/>
                      </a:endParaRPr>
                    </a:p>
                  </a:txBody>
                  <a:tcPr marL="22860" marR="22860" marT="22860" marB="18288"/>
                </a:tc>
                <a:tc>
                  <a:txBody>
                    <a:bodyPr/>
                    <a:lstStyle/>
                    <a:p>
                      <a:pPr algn="l"/>
                      <a:r>
                        <a:rPr sz="1000" b="0"/>
                        <a:t>Weiyu He, Xu Wu, Jingchen Wu, Xiaqing Xie et al.</a:t>
                      </a:r>
                      <a:endParaRPr sz="1000" b="0">
                        <a:latin typeface="Times New Roman"/>
                      </a:endParaRPr>
                    </a:p>
                  </a:txBody>
                  <a:tcPr marL="22860" marR="22860" marT="22860" marB="18288"/>
                </a:tc>
                <a:tc>
                  <a:txBody>
                    <a:bodyPr/>
                    <a:lstStyle/>
                    <a:p>
                      <a:pPr algn="l"/>
                      <a:r>
                        <a:rPr sz="1000" b="0"/>
                        <a:t>Insider Threat Detection Based on User Historical Behavior and Attention Mechanism</a:t>
                      </a:r>
                      <a:endParaRPr sz="1000" b="0">
                        <a:latin typeface="Times New Roman"/>
                      </a:endParaRPr>
                    </a:p>
                  </a:txBody>
                  <a:tcPr marL="22860" marR="22860" marT="22860" marB="18288"/>
                </a:tc>
                <a:tc>
                  <a:txBody>
                    <a:bodyPr/>
                    <a:lstStyle/>
                    <a:p>
                      <a:pPr algn="l"/>
                      <a:r>
                        <a:rPr sz="1000" b="0"/>
                        <a:t>IEEE DSC 2021</a:t>
                      </a:r>
                      <a:endParaRPr sz="1000" b="0">
                        <a:latin typeface="Times New Roman"/>
                      </a:endParaRPr>
                    </a:p>
                  </a:txBody>
                  <a:tcPr marL="22860" marR="22860" marT="22860" marB="18288"/>
                </a:tc>
                <a:tc>
                  <a:txBody>
                    <a:bodyPr/>
                    <a:lstStyle/>
                    <a:p>
                      <a:pPr algn="l"/>
                      <a:r>
                        <a:rPr sz="1000" b="0" dirty="0"/>
                        <a:t>Use historical user behavior to improve insider-threat detection.</a:t>
                      </a:r>
                      <a:endParaRPr sz="1000" b="0" dirty="0">
                        <a:latin typeface="Times New Roman"/>
                      </a:endParaRPr>
                    </a:p>
                  </a:txBody>
                  <a:tcPr marL="22860" marR="22860" marT="22860" marB="18288"/>
                </a:tc>
                <a:tc>
                  <a:txBody>
                    <a:bodyPr/>
                    <a:lstStyle/>
                    <a:p>
                      <a:pPr algn="l"/>
                      <a:r>
                        <a:rPr sz="1000" b="0" dirty="0"/>
                        <a:t>Attention mechanism; historical behavior modeling</a:t>
                      </a:r>
                      <a:endParaRPr sz="1000" b="0" dirty="0">
                        <a:latin typeface="Times New Roman"/>
                      </a:endParaRPr>
                    </a:p>
                  </a:txBody>
                  <a:tcPr marL="22860" marR="22860" marT="22860" marB="18288"/>
                </a:tc>
                <a:tc>
                  <a:txBody>
                    <a:bodyPr/>
                    <a:lstStyle/>
                    <a:p>
                      <a:pPr algn="l"/>
                      <a:r>
                        <a:rPr sz="1000" b="0"/>
                        <a:t>CERT Insider Threat Dataset</a:t>
                      </a:r>
                      <a:endParaRPr sz="1000" b="0">
                        <a:latin typeface="Times New Roman"/>
                      </a:endParaRPr>
                    </a:p>
                  </a:txBody>
                  <a:tcPr marL="22860" marR="22860" marT="22860" marB="18288"/>
                </a:tc>
                <a:tc>
                  <a:txBody>
                    <a:bodyPr/>
                    <a:lstStyle/>
                    <a:p>
                      <a:pPr algn="l"/>
                      <a:r>
                        <a:rPr sz="1000" b="0"/>
                        <a:t>Historical user behavior; behavioral features; attention weights</a:t>
                      </a:r>
                      <a:endParaRPr sz="1000" b="0">
                        <a:latin typeface="Times New Roman"/>
                      </a:endParaRPr>
                    </a:p>
                  </a:txBody>
                  <a:tcPr marL="22860" marR="22860" marT="22860" marB="18288"/>
                </a:tc>
                <a:tc>
                  <a:txBody>
                    <a:bodyPr/>
                    <a:lstStyle/>
                    <a:p>
                      <a:pPr algn="l"/>
                      <a:r>
                        <a:rPr sz="1000" b="0"/>
                        <a:t>Historical behavior and attention improve detection of suspicious users.</a:t>
                      </a:r>
                      <a:endParaRPr sz="1000" b="0">
                        <a:latin typeface="Times New Roman"/>
                      </a:endParaRPr>
                    </a:p>
                  </a:txBody>
                  <a:tcPr marL="22860" marR="22860" marT="22860" marB="18288"/>
                </a:tc>
                <a:tc>
                  <a:txBody>
                    <a:bodyPr/>
                    <a:lstStyle/>
                    <a:p>
                      <a:pPr algn="l"/>
                      <a:r>
                        <a:rPr sz="1000" b="0"/>
                        <a:t>Does not explicitly combine historical behavior with temporal attack-sequence reconstruction and resource sensitivity.</a:t>
                      </a:r>
                      <a:endParaRPr sz="1000" b="0">
                        <a:latin typeface="Times New Roman"/>
                      </a:endParaRPr>
                    </a:p>
                  </a:txBody>
                  <a:tcPr marL="22860" marR="22860" marT="22860" marB="18288"/>
                </a:tc>
                <a:tc>
                  <a:txBody>
                    <a:bodyPr/>
                    <a:lstStyle/>
                    <a:p>
                      <a:pPr algn="l"/>
                      <a:r>
                        <a:rPr sz="1000" b="0" dirty="0"/>
                        <a:t>10.1109/DSC53577.2021.00089</a:t>
                      </a:r>
                      <a:endParaRPr sz="1000" b="0" dirty="0">
                        <a:latin typeface="Times New Roman"/>
                      </a:endParaRPr>
                    </a:p>
                  </a:txBody>
                  <a:tcPr marL="22860" marR="22860" marT="22860" marB="18288"/>
                </a:tc>
                <a:extLst>
                  <a:ext uri="{0D108BD9-81ED-4DB2-BD59-A6C34878D82A}">
                    <a16:rowId xmlns:a16="http://schemas.microsoft.com/office/drawing/2014/main" val="10002"/>
                  </a:ext>
                </a:extLst>
              </a:tr>
              <a:tr h="1474470">
                <a:tc>
                  <a:txBody>
                    <a:bodyPr/>
                    <a:lstStyle/>
                    <a:p>
                      <a:pPr algn="l"/>
                      <a:r>
                        <a:rPr sz="1000" b="0"/>
                        <a:t>12</a:t>
                      </a:r>
                      <a:endParaRPr sz="1000" b="0">
                        <a:latin typeface="Times New Roman"/>
                      </a:endParaRPr>
                    </a:p>
                  </a:txBody>
                  <a:tcPr marL="22860" marR="22860" marT="22860" marB="18288"/>
                </a:tc>
                <a:tc>
                  <a:txBody>
                    <a:bodyPr/>
                    <a:lstStyle/>
                    <a:p>
                      <a:pPr algn="l"/>
                      <a:r>
                        <a:rPr sz="1000" b="0"/>
                        <a:t>2021</a:t>
                      </a:r>
                      <a:endParaRPr sz="1000" b="0">
                        <a:latin typeface="Times New Roman"/>
                      </a:endParaRPr>
                    </a:p>
                  </a:txBody>
                  <a:tcPr marL="22860" marR="22860" marT="22860" marB="18288"/>
                </a:tc>
                <a:tc>
                  <a:txBody>
                    <a:bodyPr/>
                    <a:lstStyle/>
                    <a:p>
                      <a:pPr algn="l"/>
                      <a:r>
                        <a:rPr sz="1000" b="0"/>
                        <a:t>Weiqing Huang, He Zhu, Ce Li, Qiujian Lv, Yan Wang, Haitian Yang</a:t>
                      </a:r>
                      <a:endParaRPr sz="1000" b="0">
                        <a:latin typeface="Times New Roman"/>
                      </a:endParaRPr>
                    </a:p>
                  </a:txBody>
                  <a:tcPr marL="22860" marR="22860" marT="22860" marB="18288"/>
                </a:tc>
                <a:tc>
                  <a:txBody>
                    <a:bodyPr/>
                    <a:lstStyle/>
                    <a:p>
                      <a:pPr algn="l"/>
                      <a:r>
                        <a:rPr sz="1000" b="0"/>
                        <a:t>ITDBERT: Temporal-Semantic Representation for Insider Threat Detection</a:t>
                      </a:r>
                      <a:endParaRPr sz="1000" b="0">
                        <a:latin typeface="Times New Roman"/>
                      </a:endParaRPr>
                    </a:p>
                  </a:txBody>
                  <a:tcPr marL="22860" marR="22860" marT="22860" marB="18288"/>
                </a:tc>
                <a:tc>
                  <a:txBody>
                    <a:bodyPr/>
                    <a:lstStyle/>
                    <a:p>
                      <a:pPr algn="l"/>
                      <a:r>
                        <a:rPr sz="1000" b="0"/>
                        <a:t>IEEE ISCC 2021</a:t>
                      </a:r>
                      <a:endParaRPr sz="1000" b="0">
                        <a:latin typeface="Times New Roman"/>
                      </a:endParaRPr>
                    </a:p>
                  </a:txBody>
                  <a:tcPr marL="22860" marR="22860" marT="22860" marB="18288"/>
                </a:tc>
                <a:tc>
                  <a:txBody>
                    <a:bodyPr/>
                    <a:lstStyle/>
                    <a:p>
                      <a:pPr algn="l"/>
                      <a:r>
                        <a:rPr sz="1000" b="0"/>
                        <a:t>Represent insider-threat behavior using temporal and semantic information from activity logs.</a:t>
                      </a:r>
                      <a:endParaRPr sz="1000" b="0">
                        <a:latin typeface="Times New Roman"/>
                      </a:endParaRPr>
                    </a:p>
                  </a:txBody>
                  <a:tcPr marL="22860" marR="22860" marT="22860" marB="18288"/>
                </a:tc>
                <a:tc>
                  <a:txBody>
                    <a:bodyPr/>
                    <a:lstStyle/>
                    <a:p>
                      <a:pPr algn="l"/>
                      <a:r>
                        <a:rPr sz="1000" b="0"/>
                        <a:t>BERT; NLP; temporal-semantic representation</a:t>
                      </a:r>
                      <a:endParaRPr sz="1000" b="0">
                        <a:latin typeface="Times New Roman"/>
                      </a:endParaRPr>
                    </a:p>
                  </a:txBody>
                  <a:tcPr marL="22860" marR="22860" marT="22860" marB="18288"/>
                </a:tc>
                <a:tc>
                  <a:txBody>
                    <a:bodyPr/>
                    <a:lstStyle/>
                    <a:p>
                      <a:pPr algn="l"/>
                      <a:r>
                        <a:rPr sz="1000" b="0"/>
                        <a:t>Insider-threat activity logs / CERT</a:t>
                      </a:r>
                      <a:endParaRPr sz="1000" b="0">
                        <a:latin typeface="Times New Roman"/>
                      </a:endParaRPr>
                    </a:p>
                  </a:txBody>
                  <a:tcPr marL="22860" marR="22860" marT="22860" marB="18288"/>
                </a:tc>
                <a:tc>
                  <a:txBody>
                    <a:bodyPr/>
                    <a:lstStyle/>
                    <a:p>
                      <a:pPr algn="l"/>
                      <a:r>
                        <a:rPr sz="1000" b="0" dirty="0"/>
                        <a:t>Event semantics; temporal relationships; user activities</a:t>
                      </a:r>
                      <a:endParaRPr sz="1000" b="0" dirty="0">
                        <a:latin typeface="Times New Roman"/>
                      </a:endParaRPr>
                    </a:p>
                  </a:txBody>
                  <a:tcPr marL="22860" marR="22860" marT="22860" marB="18288"/>
                </a:tc>
                <a:tc>
                  <a:txBody>
                    <a:bodyPr/>
                    <a:lstStyle/>
                    <a:p>
                      <a:pPr algn="l"/>
                      <a:r>
                        <a:rPr sz="1000" b="0" dirty="0"/>
                        <a:t>Temporal and semantic representations improve understanding of insider activities.</a:t>
                      </a:r>
                      <a:endParaRPr sz="1000" b="0" dirty="0">
                        <a:latin typeface="Times New Roman"/>
                      </a:endParaRPr>
                    </a:p>
                  </a:txBody>
                  <a:tcPr marL="22860" marR="22860" marT="22860" marB="18288"/>
                </a:tc>
                <a:tc>
                  <a:txBody>
                    <a:bodyPr/>
                    <a:lstStyle/>
                    <a:p>
                      <a:pPr algn="l"/>
                      <a:r>
                        <a:rPr sz="1000" b="0" dirty="0"/>
                        <a:t>Does not provide a complete security-impact-aware risk score or explicit resource-sensitivity analysis.</a:t>
                      </a:r>
                      <a:endParaRPr sz="1000" b="0" dirty="0">
                        <a:latin typeface="Times New Roman"/>
                      </a:endParaRPr>
                    </a:p>
                  </a:txBody>
                  <a:tcPr marL="22860" marR="22860" marT="22860" marB="18288"/>
                </a:tc>
                <a:tc>
                  <a:txBody>
                    <a:bodyPr/>
                    <a:lstStyle/>
                    <a:p>
                      <a:pPr algn="l"/>
                      <a:r>
                        <a:rPr sz="1000" b="0" dirty="0"/>
                        <a:t>10.1109/ISCC53001.2021.9631538</a:t>
                      </a:r>
                      <a:endParaRPr sz="1000" b="0" dirty="0">
                        <a:latin typeface="Times New Roman"/>
                      </a:endParaRPr>
                    </a:p>
                  </a:txBody>
                  <a:tcPr marL="22860" marR="22860" marT="22860" marB="18288"/>
                </a:tc>
                <a:extLst>
                  <a:ext uri="{0D108BD9-81ED-4DB2-BD59-A6C34878D82A}">
                    <a16:rowId xmlns:a16="http://schemas.microsoft.com/office/drawing/2014/main" val="10003"/>
                  </a:ext>
                </a:extLst>
              </a:tr>
            </a:tbl>
          </a:graphicData>
        </a:graphic>
      </p:graphicFrame>
      <p:sp>
        <p:nvSpPr>
          <p:cNvPr id="4" name="TextBox 3"/>
          <p:cNvSpPr txBox="1"/>
          <p:nvPr/>
        </p:nvSpPr>
        <p:spPr>
          <a:xfrm>
            <a:off x="182880" y="6565392"/>
            <a:ext cx="11704320" cy="164592"/>
          </a:xfrm>
          <a:prstGeom prst="rect">
            <a:avLst/>
          </a:prstGeom>
          <a:noFill/>
        </p:spPr>
        <p:txBody>
          <a:bodyPr wrap="none">
            <a:spAutoFit/>
          </a:bodyPr>
          <a:lstStyle/>
          <a:p>
            <a:pPr algn="ctr"/>
            <a:r>
              <a:rPr sz="650">
                <a:latin typeface="Times New Roman"/>
              </a:rPr>
              <a:t>Team No. 13  |  AI-Driven Insider Threat Detection Through Behavioral Analytics and Attack Sequence Correlation  |  4/6</a:t>
            </a:r>
          </a:p>
        </p:txBody>
      </p:sp>
      <p:pic>
        <p:nvPicPr>
          <p:cNvPr id="6" name="Picture 5">
            <a:extLst>
              <a:ext uri="{FF2B5EF4-FFF2-40B4-BE49-F238E27FC236}">
                <a16:creationId xmlns:a16="http://schemas.microsoft.com/office/drawing/2014/main" id="{4EEEA33C-8396-0440-2FF1-78BB2D12ACFA}"/>
              </a:ext>
            </a:extLst>
          </p:cNvPr>
          <p:cNvPicPr>
            <a:picLocks noChangeAspect="1"/>
          </p:cNvPicPr>
          <p:nvPr/>
        </p:nvPicPr>
        <p:blipFill>
          <a:blip r:embed="rId2"/>
          <a:stretch>
            <a:fillRect/>
          </a:stretch>
        </p:blipFill>
        <p:spPr>
          <a:xfrm>
            <a:off x="1" y="-396"/>
            <a:ext cx="1458484" cy="69086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37160" y="73152"/>
            <a:ext cx="11841480" cy="502920"/>
          </a:xfrm>
          <a:prstGeom prst="rect">
            <a:avLst/>
          </a:prstGeom>
          <a:noFill/>
        </p:spPr>
        <p:txBody>
          <a:bodyPr wrap="none">
            <a:spAutoFit/>
          </a:bodyPr>
          <a:lstStyle/>
          <a:p>
            <a:pPr algn="ctr"/>
            <a:r>
              <a:rPr sz="2200" b="1">
                <a:latin typeface="Times New Roman"/>
              </a:rPr>
              <a:t>Literature Survey – Papers 13–14</a:t>
            </a:r>
          </a:p>
        </p:txBody>
      </p:sp>
      <p:graphicFrame>
        <p:nvGraphicFramePr>
          <p:cNvPr id="3" name="Table 2"/>
          <p:cNvGraphicFramePr>
            <a:graphicFrameLocks noGrp="1"/>
          </p:cNvGraphicFramePr>
          <p:nvPr>
            <p:extLst>
              <p:ext uri="{D42A27DB-BD31-4B8C-83A1-F6EECF244321}">
                <p14:modId xmlns:p14="http://schemas.microsoft.com/office/powerpoint/2010/main" val="173927096"/>
              </p:ext>
            </p:extLst>
          </p:nvPr>
        </p:nvGraphicFramePr>
        <p:xfrm>
          <a:off x="73152" y="658368"/>
          <a:ext cx="12042648" cy="5897880"/>
        </p:xfrm>
        <a:graphic>
          <a:graphicData uri="http://schemas.openxmlformats.org/drawingml/2006/table">
            <a:tbl>
              <a:tblPr firstRow="1" bandRow="1">
                <a:tableStyleId>{5940675A-B579-460E-94D1-54222C63F5DA}</a:tableStyleId>
              </a:tblPr>
              <a:tblGrid>
                <a:gridCol w="384048">
                  <a:extLst>
                    <a:ext uri="{9D8B030D-6E8A-4147-A177-3AD203B41FA5}">
                      <a16:colId xmlns:a16="http://schemas.microsoft.com/office/drawing/2014/main" val="20000"/>
                    </a:ext>
                  </a:extLst>
                </a:gridCol>
                <a:gridCol w="566928">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389888">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gridCol w="822960">
                  <a:extLst>
                    <a:ext uri="{9D8B030D-6E8A-4147-A177-3AD203B41FA5}">
                      <a16:colId xmlns:a16="http://schemas.microsoft.com/office/drawing/2014/main" val="20007"/>
                    </a:ext>
                  </a:extLst>
                </a:gridCol>
                <a:gridCol w="1005840">
                  <a:extLst>
                    <a:ext uri="{9D8B030D-6E8A-4147-A177-3AD203B41FA5}">
                      <a16:colId xmlns:a16="http://schemas.microsoft.com/office/drawing/2014/main" val="20008"/>
                    </a:ext>
                  </a:extLst>
                </a:gridCol>
                <a:gridCol w="1143000">
                  <a:extLst>
                    <a:ext uri="{9D8B030D-6E8A-4147-A177-3AD203B41FA5}">
                      <a16:colId xmlns:a16="http://schemas.microsoft.com/office/drawing/2014/main" val="20009"/>
                    </a:ext>
                  </a:extLst>
                </a:gridCol>
                <a:gridCol w="1234440">
                  <a:extLst>
                    <a:ext uri="{9D8B030D-6E8A-4147-A177-3AD203B41FA5}">
                      <a16:colId xmlns:a16="http://schemas.microsoft.com/office/drawing/2014/main" val="20010"/>
                    </a:ext>
                  </a:extLst>
                </a:gridCol>
                <a:gridCol w="1335024">
                  <a:extLst>
                    <a:ext uri="{9D8B030D-6E8A-4147-A177-3AD203B41FA5}">
                      <a16:colId xmlns:a16="http://schemas.microsoft.com/office/drawing/2014/main" val="20011"/>
                    </a:ext>
                  </a:extLst>
                </a:gridCol>
              </a:tblGrid>
              <a:tr h="1965960">
                <a:tc>
                  <a:txBody>
                    <a:bodyPr/>
                    <a:lstStyle/>
                    <a:p>
                      <a:pPr algn="ctr"/>
                      <a:r>
                        <a:rPr sz="1000" b="1" dirty="0" err="1"/>
                        <a:t>Sl</a:t>
                      </a:r>
                      <a:r>
                        <a:rPr sz="1000" b="1" dirty="0"/>
                        <a:t> No</a:t>
                      </a:r>
                      <a:endParaRPr sz="1000" b="1" dirty="0">
                        <a:latin typeface="Times New Roman"/>
                      </a:endParaRPr>
                    </a:p>
                  </a:txBody>
                  <a:tcPr anchor="ctr"/>
                </a:tc>
                <a:tc>
                  <a:txBody>
                    <a:bodyPr/>
                    <a:lstStyle/>
                    <a:p>
                      <a:pPr algn="ctr"/>
                      <a:r>
                        <a:rPr sz="1000" b="1" dirty="0"/>
                        <a:t>Year</a:t>
                      </a:r>
                    </a:p>
                    <a:p>
                      <a:pPr algn="ctr"/>
                      <a:r>
                        <a:rPr sz="1000" b="1" dirty="0"/>
                        <a:t>(2020 onwards</a:t>
                      </a:r>
                    </a:p>
                    <a:p>
                      <a:pPr algn="ctr"/>
                      <a:r>
                        <a:rPr sz="1000" b="1" dirty="0"/>
                        <a:t>papers)</a:t>
                      </a:r>
                      <a:endParaRPr sz="1000" b="1" dirty="0">
                        <a:latin typeface="Times New Roman"/>
                      </a:endParaRPr>
                    </a:p>
                  </a:txBody>
                  <a:tcPr anchor="ctr"/>
                </a:tc>
                <a:tc>
                  <a:txBody>
                    <a:bodyPr/>
                    <a:lstStyle/>
                    <a:p>
                      <a:pPr algn="ctr"/>
                      <a:r>
                        <a:rPr sz="1000" b="1" dirty="0"/>
                        <a:t>Authors</a:t>
                      </a:r>
                      <a:endParaRPr sz="1000" b="1" dirty="0">
                        <a:latin typeface="Times New Roman"/>
                      </a:endParaRPr>
                    </a:p>
                  </a:txBody>
                  <a:tcPr anchor="ctr"/>
                </a:tc>
                <a:tc>
                  <a:txBody>
                    <a:bodyPr/>
                    <a:lstStyle/>
                    <a:p>
                      <a:pPr algn="ctr"/>
                      <a:r>
                        <a:rPr sz="1000" b="1"/>
                        <a:t>Title of the paper</a:t>
                      </a:r>
                      <a:endParaRPr sz="1000" b="1">
                        <a:latin typeface="Times New Roman"/>
                      </a:endParaRPr>
                    </a:p>
                  </a:txBody>
                  <a:tcPr anchor="ctr"/>
                </a:tc>
                <a:tc>
                  <a:txBody>
                    <a:bodyPr/>
                    <a:lstStyle/>
                    <a:p>
                      <a:pPr algn="ctr"/>
                      <a:r>
                        <a:rPr sz="1000" b="1"/>
                        <a:t>Source (Journal/</a:t>
                      </a:r>
                    </a:p>
                    <a:p>
                      <a:pPr algn="ctr"/>
                      <a:r>
                        <a:rPr sz="1000" b="1"/>
                        <a:t>Conference name)</a:t>
                      </a:r>
                      <a:endParaRPr sz="1000" b="1">
                        <a:latin typeface="Times New Roman"/>
                      </a:endParaRPr>
                    </a:p>
                  </a:txBody>
                  <a:tcPr anchor="ctr"/>
                </a:tc>
                <a:tc>
                  <a:txBody>
                    <a:bodyPr/>
                    <a:lstStyle/>
                    <a:p>
                      <a:pPr algn="ctr"/>
                      <a:r>
                        <a:rPr sz="1000" b="1"/>
                        <a:t>Objective of the paper</a:t>
                      </a:r>
                      <a:endParaRPr sz="1000" b="1">
                        <a:latin typeface="Times New Roman"/>
                      </a:endParaRPr>
                    </a:p>
                  </a:txBody>
                  <a:tcPr anchor="ctr"/>
                </a:tc>
                <a:tc>
                  <a:txBody>
                    <a:bodyPr/>
                    <a:lstStyle/>
                    <a:p>
                      <a:pPr algn="ctr"/>
                      <a:r>
                        <a:rPr sz="1000" b="1"/>
                        <a:t>Techniques Used</a:t>
                      </a:r>
                      <a:endParaRPr sz="1000" b="1">
                        <a:latin typeface="Times New Roman"/>
                      </a:endParaRPr>
                    </a:p>
                  </a:txBody>
                  <a:tcPr anchor="ctr"/>
                </a:tc>
                <a:tc>
                  <a:txBody>
                    <a:bodyPr/>
                    <a:lstStyle/>
                    <a:p>
                      <a:pPr algn="ctr"/>
                      <a:r>
                        <a:rPr sz="1000" b="1"/>
                        <a:t>Dataset Used</a:t>
                      </a:r>
                      <a:endParaRPr sz="1000" b="1">
                        <a:latin typeface="Times New Roman"/>
                      </a:endParaRPr>
                    </a:p>
                  </a:txBody>
                  <a:tcPr anchor="ctr"/>
                </a:tc>
                <a:tc>
                  <a:txBody>
                    <a:bodyPr/>
                    <a:lstStyle/>
                    <a:p>
                      <a:pPr algn="ctr"/>
                      <a:r>
                        <a:rPr sz="1000" b="1"/>
                        <a:t>Parameters Analysed</a:t>
                      </a:r>
                      <a:endParaRPr sz="1000" b="1">
                        <a:latin typeface="Times New Roman"/>
                      </a:endParaRPr>
                    </a:p>
                  </a:txBody>
                  <a:tcPr anchor="ctr"/>
                </a:tc>
                <a:tc>
                  <a:txBody>
                    <a:bodyPr/>
                    <a:lstStyle/>
                    <a:p>
                      <a:pPr algn="ctr"/>
                      <a:r>
                        <a:rPr sz="1000" b="1"/>
                        <a:t>Research Inference</a:t>
                      </a:r>
                      <a:endParaRPr sz="1000" b="1">
                        <a:latin typeface="Times New Roman"/>
                      </a:endParaRPr>
                    </a:p>
                  </a:txBody>
                  <a:tcPr anchor="ctr"/>
                </a:tc>
                <a:tc>
                  <a:txBody>
                    <a:bodyPr/>
                    <a:lstStyle/>
                    <a:p>
                      <a:pPr algn="ctr"/>
                      <a:r>
                        <a:rPr sz="1000" b="1"/>
                        <a:t>Research Gap</a:t>
                      </a:r>
                      <a:endParaRPr sz="1000" b="1">
                        <a:latin typeface="Times New Roman"/>
                      </a:endParaRPr>
                    </a:p>
                  </a:txBody>
                  <a:tcPr anchor="ctr"/>
                </a:tc>
                <a:tc>
                  <a:txBody>
                    <a:bodyPr/>
                    <a:lstStyle/>
                    <a:p>
                      <a:pPr algn="ctr"/>
                      <a:r>
                        <a:rPr sz="1000" b="1" dirty="0"/>
                        <a:t>DOI of the paper</a:t>
                      </a:r>
                      <a:endParaRPr sz="1000" b="1" dirty="0">
                        <a:latin typeface="Times New Roman"/>
                      </a:endParaRPr>
                    </a:p>
                  </a:txBody>
                  <a:tcPr anchor="ctr"/>
                </a:tc>
                <a:extLst>
                  <a:ext uri="{0D108BD9-81ED-4DB2-BD59-A6C34878D82A}">
                    <a16:rowId xmlns:a16="http://schemas.microsoft.com/office/drawing/2014/main" val="10000"/>
                  </a:ext>
                </a:extLst>
              </a:tr>
              <a:tr h="1965960">
                <a:tc>
                  <a:txBody>
                    <a:bodyPr/>
                    <a:lstStyle/>
                    <a:p>
                      <a:pPr algn="l"/>
                      <a:r>
                        <a:rPr sz="1000" b="0"/>
                        <a:t>13</a:t>
                      </a:r>
                      <a:endParaRPr sz="1000" b="0">
                        <a:latin typeface="Times New Roman"/>
                      </a:endParaRPr>
                    </a:p>
                  </a:txBody>
                  <a:tcPr marL="22860" marR="22860" marT="22860" marB="18288"/>
                </a:tc>
                <a:tc>
                  <a:txBody>
                    <a:bodyPr/>
                    <a:lstStyle/>
                    <a:p>
                      <a:pPr algn="l"/>
                      <a:r>
                        <a:rPr sz="1000" b="0"/>
                        <a:t>2022</a:t>
                      </a:r>
                      <a:endParaRPr sz="1000" b="0">
                        <a:latin typeface="Times New Roman"/>
                      </a:endParaRPr>
                    </a:p>
                  </a:txBody>
                  <a:tcPr marL="22860" marR="22860" marT="22860" marB="18288"/>
                </a:tc>
                <a:tc>
                  <a:txBody>
                    <a:bodyPr/>
                    <a:lstStyle/>
                    <a:p>
                      <a:pPr algn="l"/>
                      <a:r>
                        <a:rPr sz="1000" b="0" dirty="0"/>
                        <a:t>Malvika Singh, B. M. </a:t>
                      </a:r>
                      <a:r>
                        <a:rPr sz="1000" b="0" dirty="0" err="1"/>
                        <a:t>Mehtre</a:t>
                      </a:r>
                      <a:r>
                        <a:rPr sz="1000" b="0" dirty="0"/>
                        <a:t>, S. Sangeetha</a:t>
                      </a:r>
                      <a:endParaRPr sz="1000" b="0" dirty="0">
                        <a:latin typeface="Times New Roman"/>
                      </a:endParaRPr>
                    </a:p>
                  </a:txBody>
                  <a:tcPr marL="22860" marR="22860" marT="22860" marB="18288"/>
                </a:tc>
                <a:tc>
                  <a:txBody>
                    <a:bodyPr/>
                    <a:lstStyle/>
                    <a:p>
                      <a:pPr algn="l"/>
                      <a:r>
                        <a:rPr sz="1000" b="0"/>
                        <a:t>User Behavior Based Insider Threat Detection Using a Multi Fuzzy Classifier</a:t>
                      </a:r>
                      <a:endParaRPr sz="1000" b="0">
                        <a:latin typeface="Times New Roman"/>
                      </a:endParaRPr>
                    </a:p>
                  </a:txBody>
                  <a:tcPr marL="22860" marR="22860" marT="22860" marB="18288"/>
                </a:tc>
                <a:tc>
                  <a:txBody>
                    <a:bodyPr/>
                    <a:lstStyle/>
                    <a:p>
                      <a:pPr algn="l"/>
                      <a:r>
                        <a:rPr sz="1000" b="0"/>
                        <a:t>Multimedia Tools and Applications</a:t>
                      </a:r>
                      <a:endParaRPr sz="1000" b="0">
                        <a:latin typeface="Times New Roman"/>
                      </a:endParaRPr>
                    </a:p>
                  </a:txBody>
                  <a:tcPr marL="22860" marR="22860" marT="22860" marB="18288"/>
                </a:tc>
                <a:tc>
                  <a:txBody>
                    <a:bodyPr/>
                    <a:lstStyle/>
                    <a:p>
                      <a:pPr algn="l"/>
                      <a:r>
                        <a:rPr sz="1000" b="0"/>
                        <a:t>Improve insider-threat detection using user behavior and fuzzy classification.</a:t>
                      </a:r>
                      <a:endParaRPr sz="1000" b="0">
                        <a:latin typeface="Times New Roman"/>
                      </a:endParaRPr>
                    </a:p>
                  </a:txBody>
                  <a:tcPr marL="22860" marR="22860" marT="22860" marB="18288"/>
                </a:tc>
                <a:tc>
                  <a:txBody>
                    <a:bodyPr/>
                    <a:lstStyle/>
                    <a:p>
                      <a:pPr algn="l"/>
                      <a:r>
                        <a:rPr sz="1000" b="0"/>
                        <a:t>Isometric feature mapping; Emperor Penguin Algorithm; TF-IDF; Multi-Fuzzy Classifier</a:t>
                      </a:r>
                      <a:endParaRPr sz="1000" b="0">
                        <a:latin typeface="Times New Roman"/>
                      </a:endParaRPr>
                    </a:p>
                  </a:txBody>
                  <a:tcPr marL="22860" marR="22860" marT="22860" marB="18288"/>
                </a:tc>
                <a:tc>
                  <a:txBody>
                    <a:bodyPr/>
                    <a:lstStyle/>
                    <a:p>
                      <a:pPr algn="l"/>
                      <a:r>
                        <a:rPr sz="1000" b="0"/>
                        <a:t>CMU CERT v4.2</a:t>
                      </a:r>
                      <a:endParaRPr sz="1000" b="0">
                        <a:latin typeface="Times New Roman"/>
                      </a:endParaRPr>
                    </a:p>
                  </a:txBody>
                  <a:tcPr marL="22860" marR="22860" marT="22860" marB="18288"/>
                </a:tc>
                <a:tc>
                  <a:txBody>
                    <a:bodyPr/>
                    <a:lstStyle/>
                    <a:p>
                      <a:pPr algn="l"/>
                      <a:r>
                        <a:rPr sz="1000" b="0"/>
                        <a:t>User behavior; content features; selected features; classification metrics</a:t>
                      </a:r>
                      <a:endParaRPr sz="1000" b="0">
                        <a:latin typeface="Times New Roman"/>
                      </a:endParaRPr>
                    </a:p>
                  </a:txBody>
                  <a:tcPr marL="22860" marR="22860" marT="22860" marB="18288"/>
                </a:tc>
                <a:tc>
                  <a:txBody>
                    <a:bodyPr/>
                    <a:lstStyle/>
                    <a:p>
                      <a:pPr algn="l"/>
                      <a:r>
                        <a:rPr sz="1000" b="0"/>
                        <a:t>Behavioral analysis and feature selection can improve classification and reduce false positives.</a:t>
                      </a:r>
                      <a:endParaRPr sz="1000" b="0">
                        <a:latin typeface="Times New Roman"/>
                      </a:endParaRPr>
                    </a:p>
                  </a:txBody>
                  <a:tcPr marL="22860" marR="22860" marT="22860" marB="18288"/>
                </a:tc>
                <a:tc>
                  <a:txBody>
                    <a:bodyPr/>
                    <a:lstStyle/>
                    <a:p>
                      <a:pPr algn="l"/>
                      <a:r>
                        <a:rPr sz="1000" b="0"/>
                        <a:t>Does not correlate suspicious activities into attack sequences or calculate security-impact-based dynamic risk scores.</a:t>
                      </a:r>
                      <a:endParaRPr sz="1000" b="0">
                        <a:latin typeface="Times New Roman"/>
                      </a:endParaRPr>
                    </a:p>
                  </a:txBody>
                  <a:tcPr marL="22860" marR="22860" marT="22860" marB="18288"/>
                </a:tc>
                <a:tc>
                  <a:txBody>
                    <a:bodyPr/>
                    <a:lstStyle/>
                    <a:p>
                      <a:pPr algn="l"/>
                      <a:r>
                        <a:rPr sz="1000" b="0" dirty="0"/>
                        <a:t>10.1007/s11042-022-12173-y</a:t>
                      </a:r>
                      <a:endParaRPr sz="1000" b="0" dirty="0">
                        <a:latin typeface="Times New Roman"/>
                      </a:endParaRPr>
                    </a:p>
                  </a:txBody>
                  <a:tcPr marL="22860" marR="22860" marT="22860" marB="18288"/>
                </a:tc>
                <a:extLst>
                  <a:ext uri="{0D108BD9-81ED-4DB2-BD59-A6C34878D82A}">
                    <a16:rowId xmlns:a16="http://schemas.microsoft.com/office/drawing/2014/main" val="10001"/>
                  </a:ext>
                </a:extLst>
              </a:tr>
              <a:tr h="1965960">
                <a:tc>
                  <a:txBody>
                    <a:bodyPr/>
                    <a:lstStyle/>
                    <a:p>
                      <a:pPr algn="l"/>
                      <a:r>
                        <a:rPr sz="1000" b="0"/>
                        <a:t>14</a:t>
                      </a:r>
                      <a:endParaRPr sz="1000" b="0">
                        <a:latin typeface="Times New Roman"/>
                      </a:endParaRPr>
                    </a:p>
                  </a:txBody>
                  <a:tcPr marL="22860" marR="22860" marT="22860" marB="18288"/>
                </a:tc>
                <a:tc>
                  <a:txBody>
                    <a:bodyPr/>
                    <a:lstStyle/>
                    <a:p>
                      <a:pPr algn="l"/>
                      <a:r>
                        <a:rPr sz="1000" b="0"/>
                        <a:t>2022</a:t>
                      </a:r>
                      <a:endParaRPr sz="1000" b="0">
                        <a:latin typeface="Times New Roman"/>
                      </a:endParaRPr>
                    </a:p>
                  </a:txBody>
                  <a:tcPr marL="22860" marR="22860" marT="22860" marB="18288"/>
                </a:tc>
                <a:tc>
                  <a:txBody>
                    <a:bodyPr/>
                    <a:lstStyle/>
                    <a:p>
                      <a:pPr algn="l"/>
                      <a:r>
                        <a:rPr sz="1000" b="0"/>
                        <a:t>Taher Al-Shehari, Rakan A. Alsowail</a:t>
                      </a:r>
                      <a:endParaRPr sz="1000" b="0">
                        <a:latin typeface="Times New Roman"/>
                      </a:endParaRPr>
                    </a:p>
                  </a:txBody>
                  <a:tcPr marL="22860" marR="22860" marT="22860" marB="18288"/>
                </a:tc>
                <a:tc>
                  <a:txBody>
                    <a:bodyPr/>
                    <a:lstStyle/>
                    <a:p>
                      <a:pPr algn="l"/>
                      <a:r>
                        <a:rPr sz="1000" b="0" dirty="0"/>
                        <a:t>Random Resampling Algorithms for Addressing the Imbalanced Dataset Classes in Insider Threat Detection</a:t>
                      </a:r>
                      <a:endParaRPr sz="1000" b="0" dirty="0">
                        <a:latin typeface="Times New Roman"/>
                      </a:endParaRPr>
                    </a:p>
                  </a:txBody>
                  <a:tcPr marL="22860" marR="22860" marT="22860" marB="18288"/>
                </a:tc>
                <a:tc>
                  <a:txBody>
                    <a:bodyPr/>
                    <a:lstStyle/>
                    <a:p>
                      <a:pPr algn="l"/>
                      <a:r>
                        <a:rPr sz="1000" b="0" dirty="0"/>
                        <a:t>International Journal of Information Security</a:t>
                      </a:r>
                      <a:endParaRPr sz="1000" b="0" dirty="0">
                        <a:latin typeface="Times New Roman"/>
                      </a:endParaRPr>
                    </a:p>
                  </a:txBody>
                  <a:tcPr marL="22860" marR="22860" marT="22860" marB="18288"/>
                </a:tc>
                <a:tc>
                  <a:txBody>
                    <a:bodyPr/>
                    <a:lstStyle/>
                    <a:p>
                      <a:pPr algn="l"/>
                      <a:r>
                        <a:rPr sz="1000" b="0" dirty="0"/>
                        <a:t>Investigate resampling strategies for highly imbalanced insider-threat datasets.</a:t>
                      </a:r>
                      <a:endParaRPr sz="1000" b="0" dirty="0">
                        <a:latin typeface="Times New Roman"/>
                      </a:endParaRPr>
                    </a:p>
                  </a:txBody>
                  <a:tcPr marL="22860" marR="22860" marT="22860" marB="18288"/>
                </a:tc>
                <a:tc>
                  <a:txBody>
                    <a:bodyPr/>
                    <a:lstStyle/>
                    <a:p>
                      <a:pPr algn="l"/>
                      <a:r>
                        <a:rPr sz="1000" b="0"/>
                        <a:t>Random under-sampling; over-sampling; resampling</a:t>
                      </a:r>
                      <a:endParaRPr sz="1000" b="0">
                        <a:latin typeface="Times New Roman"/>
                      </a:endParaRPr>
                    </a:p>
                  </a:txBody>
                  <a:tcPr marL="22860" marR="22860" marT="22860" marB="18288"/>
                </a:tc>
                <a:tc>
                  <a:txBody>
                    <a:bodyPr/>
                    <a:lstStyle/>
                    <a:p>
                      <a:pPr algn="l"/>
                      <a:r>
                        <a:rPr sz="1000" b="0" dirty="0"/>
                        <a:t>CERT Insider Threat Dataset</a:t>
                      </a:r>
                      <a:endParaRPr sz="1000" b="0" dirty="0">
                        <a:latin typeface="Times New Roman"/>
                      </a:endParaRPr>
                    </a:p>
                  </a:txBody>
                  <a:tcPr marL="22860" marR="22860" marT="22860" marB="18288"/>
                </a:tc>
                <a:tc>
                  <a:txBody>
                    <a:bodyPr/>
                    <a:lstStyle/>
                    <a:p>
                      <a:pPr algn="l"/>
                      <a:r>
                        <a:rPr sz="1000" b="0" dirty="0"/>
                        <a:t>Class imbalance; detection performance; precision; recall; F1</a:t>
                      </a:r>
                      <a:endParaRPr sz="1000" b="0" dirty="0">
                        <a:latin typeface="Times New Roman"/>
                      </a:endParaRPr>
                    </a:p>
                  </a:txBody>
                  <a:tcPr marL="22860" marR="22860" marT="22860" marB="18288"/>
                </a:tc>
                <a:tc>
                  <a:txBody>
                    <a:bodyPr/>
                    <a:lstStyle/>
                    <a:p>
                      <a:pPr algn="l"/>
                      <a:r>
                        <a:rPr sz="1000" b="0" dirty="0"/>
                        <a:t>Appropriate resampling can improve detection of rare insider-threat events.</a:t>
                      </a:r>
                      <a:endParaRPr sz="1000" b="0" dirty="0">
                        <a:latin typeface="Times New Roman"/>
                      </a:endParaRPr>
                    </a:p>
                  </a:txBody>
                  <a:tcPr marL="22860" marR="22860" marT="22860" marB="18288"/>
                </a:tc>
                <a:tc>
                  <a:txBody>
                    <a:bodyPr/>
                    <a:lstStyle/>
                    <a:p>
                      <a:pPr algn="l"/>
                      <a:r>
                        <a:rPr sz="1000" b="0" dirty="0"/>
                        <a:t>Focuses mainly on dataset imbalance and detection performance rather than attack-sequence understanding and contextual risk analysis.</a:t>
                      </a:r>
                      <a:endParaRPr sz="1000" b="0" dirty="0">
                        <a:latin typeface="Times New Roman"/>
                      </a:endParaRPr>
                    </a:p>
                  </a:txBody>
                  <a:tcPr marL="22860" marR="22860" marT="22860" marB="18288"/>
                </a:tc>
                <a:tc>
                  <a:txBody>
                    <a:bodyPr/>
                    <a:lstStyle/>
                    <a:p>
                      <a:pPr algn="l"/>
                      <a:r>
                        <a:rPr sz="1000" b="0" dirty="0"/>
                        <a:t>10.1007/s10207-022-00651-1</a:t>
                      </a:r>
                      <a:endParaRPr sz="1000" b="0" dirty="0">
                        <a:latin typeface="Times New Roman"/>
                      </a:endParaRPr>
                    </a:p>
                  </a:txBody>
                  <a:tcPr marL="22860" marR="22860" marT="22860" marB="18288"/>
                </a:tc>
                <a:extLst>
                  <a:ext uri="{0D108BD9-81ED-4DB2-BD59-A6C34878D82A}">
                    <a16:rowId xmlns:a16="http://schemas.microsoft.com/office/drawing/2014/main" val="10002"/>
                  </a:ext>
                </a:extLst>
              </a:tr>
            </a:tbl>
          </a:graphicData>
        </a:graphic>
      </p:graphicFrame>
      <p:sp>
        <p:nvSpPr>
          <p:cNvPr id="4" name="TextBox 3"/>
          <p:cNvSpPr txBox="1"/>
          <p:nvPr/>
        </p:nvSpPr>
        <p:spPr>
          <a:xfrm>
            <a:off x="182880" y="6565392"/>
            <a:ext cx="11704320" cy="164592"/>
          </a:xfrm>
          <a:prstGeom prst="rect">
            <a:avLst/>
          </a:prstGeom>
          <a:noFill/>
        </p:spPr>
        <p:txBody>
          <a:bodyPr wrap="none">
            <a:spAutoFit/>
          </a:bodyPr>
          <a:lstStyle/>
          <a:p>
            <a:pPr algn="ctr"/>
            <a:r>
              <a:rPr sz="650">
                <a:latin typeface="Times New Roman"/>
              </a:rPr>
              <a:t>Team No. 13  |  AI-Driven Insider Threat Detection Through Behavioral Analytics and Attack Sequence Correlation  |  5/6</a:t>
            </a:r>
          </a:p>
        </p:txBody>
      </p:sp>
      <p:pic>
        <p:nvPicPr>
          <p:cNvPr id="6" name="Picture 5">
            <a:extLst>
              <a:ext uri="{FF2B5EF4-FFF2-40B4-BE49-F238E27FC236}">
                <a16:creationId xmlns:a16="http://schemas.microsoft.com/office/drawing/2014/main" id="{26B9C488-FCF9-408F-4F52-F4B24FE4F40C}"/>
              </a:ext>
            </a:extLst>
          </p:cNvPr>
          <p:cNvPicPr>
            <a:picLocks noChangeAspect="1"/>
          </p:cNvPicPr>
          <p:nvPr/>
        </p:nvPicPr>
        <p:blipFill>
          <a:blip r:embed="rId2"/>
          <a:stretch>
            <a:fillRect/>
          </a:stretch>
        </p:blipFill>
        <p:spPr>
          <a:xfrm>
            <a:off x="1" y="-396"/>
            <a:ext cx="1458484" cy="69086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 y="73152"/>
            <a:ext cx="11905488" cy="430887"/>
          </a:xfrm>
          <a:prstGeom prst="rect">
            <a:avLst/>
          </a:prstGeom>
          <a:noFill/>
        </p:spPr>
        <p:txBody>
          <a:bodyPr wrap="square">
            <a:spAutoFit/>
          </a:bodyPr>
          <a:lstStyle/>
          <a:p>
            <a:pPr algn="ctr"/>
            <a:r>
              <a:rPr sz="2200" b="1">
                <a:latin typeface="Times New Roman"/>
              </a:rPr>
              <a:t>Literature Survey – Papers 15–16</a:t>
            </a:r>
          </a:p>
        </p:txBody>
      </p:sp>
      <p:graphicFrame>
        <p:nvGraphicFramePr>
          <p:cNvPr id="3" name="Table 2"/>
          <p:cNvGraphicFramePr>
            <a:graphicFrameLocks noGrp="1"/>
          </p:cNvGraphicFramePr>
          <p:nvPr>
            <p:extLst>
              <p:ext uri="{D42A27DB-BD31-4B8C-83A1-F6EECF244321}">
                <p14:modId xmlns:p14="http://schemas.microsoft.com/office/powerpoint/2010/main" val="4245735449"/>
              </p:ext>
            </p:extLst>
          </p:nvPr>
        </p:nvGraphicFramePr>
        <p:xfrm>
          <a:off x="73152" y="658368"/>
          <a:ext cx="12042648" cy="5897880"/>
        </p:xfrm>
        <a:graphic>
          <a:graphicData uri="http://schemas.openxmlformats.org/drawingml/2006/table">
            <a:tbl>
              <a:tblPr firstRow="1" bandRow="1">
                <a:tableStyleId>{5940675A-B579-460E-94D1-54222C63F5DA}</a:tableStyleId>
              </a:tblPr>
              <a:tblGrid>
                <a:gridCol w="384048">
                  <a:extLst>
                    <a:ext uri="{9D8B030D-6E8A-4147-A177-3AD203B41FA5}">
                      <a16:colId xmlns:a16="http://schemas.microsoft.com/office/drawing/2014/main" val="20000"/>
                    </a:ext>
                  </a:extLst>
                </a:gridCol>
                <a:gridCol w="566928">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389888">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gridCol w="822960">
                  <a:extLst>
                    <a:ext uri="{9D8B030D-6E8A-4147-A177-3AD203B41FA5}">
                      <a16:colId xmlns:a16="http://schemas.microsoft.com/office/drawing/2014/main" val="20007"/>
                    </a:ext>
                  </a:extLst>
                </a:gridCol>
                <a:gridCol w="1005840">
                  <a:extLst>
                    <a:ext uri="{9D8B030D-6E8A-4147-A177-3AD203B41FA5}">
                      <a16:colId xmlns:a16="http://schemas.microsoft.com/office/drawing/2014/main" val="20008"/>
                    </a:ext>
                  </a:extLst>
                </a:gridCol>
                <a:gridCol w="1143000">
                  <a:extLst>
                    <a:ext uri="{9D8B030D-6E8A-4147-A177-3AD203B41FA5}">
                      <a16:colId xmlns:a16="http://schemas.microsoft.com/office/drawing/2014/main" val="20009"/>
                    </a:ext>
                  </a:extLst>
                </a:gridCol>
                <a:gridCol w="1234440">
                  <a:extLst>
                    <a:ext uri="{9D8B030D-6E8A-4147-A177-3AD203B41FA5}">
                      <a16:colId xmlns:a16="http://schemas.microsoft.com/office/drawing/2014/main" val="20010"/>
                    </a:ext>
                  </a:extLst>
                </a:gridCol>
                <a:gridCol w="1335024">
                  <a:extLst>
                    <a:ext uri="{9D8B030D-6E8A-4147-A177-3AD203B41FA5}">
                      <a16:colId xmlns:a16="http://schemas.microsoft.com/office/drawing/2014/main" val="20011"/>
                    </a:ext>
                  </a:extLst>
                </a:gridCol>
              </a:tblGrid>
              <a:tr h="1965960">
                <a:tc>
                  <a:txBody>
                    <a:bodyPr/>
                    <a:lstStyle/>
                    <a:p>
                      <a:pPr algn="ctr"/>
                      <a:r>
                        <a:rPr sz="1000" b="1" dirty="0" err="1"/>
                        <a:t>Sl</a:t>
                      </a:r>
                      <a:r>
                        <a:rPr sz="1000" b="1" dirty="0"/>
                        <a:t> No</a:t>
                      </a:r>
                      <a:endParaRPr sz="1000" b="1" dirty="0">
                        <a:latin typeface="Times New Roman"/>
                      </a:endParaRPr>
                    </a:p>
                  </a:txBody>
                  <a:tcPr anchor="ctr"/>
                </a:tc>
                <a:tc>
                  <a:txBody>
                    <a:bodyPr/>
                    <a:lstStyle/>
                    <a:p>
                      <a:pPr algn="ctr"/>
                      <a:r>
                        <a:rPr sz="1000" b="1" dirty="0"/>
                        <a:t>Year</a:t>
                      </a:r>
                    </a:p>
                    <a:p>
                      <a:pPr algn="ctr"/>
                      <a:r>
                        <a:rPr sz="1000" b="1" dirty="0"/>
                        <a:t>(2020 onwards</a:t>
                      </a:r>
                    </a:p>
                    <a:p>
                      <a:pPr algn="ctr"/>
                      <a:r>
                        <a:rPr sz="1000" b="1" dirty="0"/>
                        <a:t>papers)</a:t>
                      </a:r>
                      <a:endParaRPr sz="1000" b="1" dirty="0">
                        <a:latin typeface="Times New Roman"/>
                      </a:endParaRPr>
                    </a:p>
                  </a:txBody>
                  <a:tcPr anchor="ctr"/>
                </a:tc>
                <a:tc>
                  <a:txBody>
                    <a:bodyPr/>
                    <a:lstStyle/>
                    <a:p>
                      <a:pPr algn="ctr"/>
                      <a:r>
                        <a:rPr sz="1000" b="1"/>
                        <a:t>Authors</a:t>
                      </a:r>
                      <a:endParaRPr sz="1000" b="1">
                        <a:latin typeface="Times New Roman"/>
                      </a:endParaRPr>
                    </a:p>
                  </a:txBody>
                  <a:tcPr anchor="ctr"/>
                </a:tc>
                <a:tc>
                  <a:txBody>
                    <a:bodyPr/>
                    <a:lstStyle/>
                    <a:p>
                      <a:pPr algn="ctr"/>
                      <a:r>
                        <a:rPr sz="1000" b="1"/>
                        <a:t>Title of the paper</a:t>
                      </a:r>
                      <a:endParaRPr sz="1000" b="1">
                        <a:latin typeface="Times New Roman"/>
                      </a:endParaRPr>
                    </a:p>
                  </a:txBody>
                  <a:tcPr anchor="ctr"/>
                </a:tc>
                <a:tc>
                  <a:txBody>
                    <a:bodyPr/>
                    <a:lstStyle/>
                    <a:p>
                      <a:pPr algn="ctr"/>
                      <a:r>
                        <a:rPr sz="1000" b="1"/>
                        <a:t>Source (Journal/</a:t>
                      </a:r>
                    </a:p>
                    <a:p>
                      <a:pPr algn="ctr"/>
                      <a:r>
                        <a:rPr sz="1000" b="1"/>
                        <a:t>Conference name)</a:t>
                      </a:r>
                      <a:endParaRPr sz="1000" b="1">
                        <a:latin typeface="Times New Roman"/>
                      </a:endParaRPr>
                    </a:p>
                  </a:txBody>
                  <a:tcPr anchor="ctr"/>
                </a:tc>
                <a:tc>
                  <a:txBody>
                    <a:bodyPr/>
                    <a:lstStyle/>
                    <a:p>
                      <a:pPr algn="ctr"/>
                      <a:r>
                        <a:rPr sz="1000" b="1"/>
                        <a:t>Objective of the paper</a:t>
                      </a:r>
                      <a:endParaRPr sz="1000" b="1">
                        <a:latin typeface="Times New Roman"/>
                      </a:endParaRPr>
                    </a:p>
                  </a:txBody>
                  <a:tcPr anchor="ctr"/>
                </a:tc>
                <a:tc>
                  <a:txBody>
                    <a:bodyPr/>
                    <a:lstStyle/>
                    <a:p>
                      <a:pPr algn="ctr"/>
                      <a:r>
                        <a:rPr sz="1000" b="1"/>
                        <a:t>Techniques Used</a:t>
                      </a:r>
                      <a:endParaRPr sz="1000" b="1">
                        <a:latin typeface="Times New Roman"/>
                      </a:endParaRPr>
                    </a:p>
                  </a:txBody>
                  <a:tcPr anchor="ctr"/>
                </a:tc>
                <a:tc>
                  <a:txBody>
                    <a:bodyPr/>
                    <a:lstStyle/>
                    <a:p>
                      <a:pPr algn="ctr"/>
                      <a:r>
                        <a:rPr sz="1000" b="1"/>
                        <a:t>Dataset Used</a:t>
                      </a:r>
                      <a:endParaRPr sz="1000" b="1">
                        <a:latin typeface="Times New Roman"/>
                      </a:endParaRPr>
                    </a:p>
                  </a:txBody>
                  <a:tcPr anchor="ctr"/>
                </a:tc>
                <a:tc>
                  <a:txBody>
                    <a:bodyPr/>
                    <a:lstStyle/>
                    <a:p>
                      <a:pPr algn="ctr"/>
                      <a:r>
                        <a:rPr sz="1000" b="1"/>
                        <a:t>Parameters Analysed</a:t>
                      </a:r>
                      <a:endParaRPr sz="1000" b="1">
                        <a:latin typeface="Times New Roman"/>
                      </a:endParaRPr>
                    </a:p>
                  </a:txBody>
                  <a:tcPr anchor="ctr"/>
                </a:tc>
                <a:tc>
                  <a:txBody>
                    <a:bodyPr/>
                    <a:lstStyle/>
                    <a:p>
                      <a:pPr algn="ctr"/>
                      <a:r>
                        <a:rPr sz="1000" b="1" dirty="0"/>
                        <a:t>Research Inference</a:t>
                      </a:r>
                      <a:endParaRPr sz="1000" b="1" dirty="0">
                        <a:latin typeface="Times New Roman"/>
                      </a:endParaRPr>
                    </a:p>
                  </a:txBody>
                  <a:tcPr anchor="ctr"/>
                </a:tc>
                <a:tc>
                  <a:txBody>
                    <a:bodyPr/>
                    <a:lstStyle/>
                    <a:p>
                      <a:pPr algn="ctr"/>
                      <a:r>
                        <a:rPr sz="1000" b="1"/>
                        <a:t>Research Gap</a:t>
                      </a:r>
                      <a:endParaRPr sz="1000" b="1">
                        <a:latin typeface="Times New Roman"/>
                      </a:endParaRPr>
                    </a:p>
                  </a:txBody>
                  <a:tcPr anchor="ctr"/>
                </a:tc>
                <a:tc>
                  <a:txBody>
                    <a:bodyPr/>
                    <a:lstStyle/>
                    <a:p>
                      <a:pPr algn="ctr"/>
                      <a:r>
                        <a:rPr sz="1000" b="1" dirty="0"/>
                        <a:t>DOI of the paper</a:t>
                      </a:r>
                      <a:endParaRPr sz="1000" b="1" dirty="0">
                        <a:latin typeface="Times New Roman"/>
                      </a:endParaRPr>
                    </a:p>
                  </a:txBody>
                  <a:tcPr anchor="ctr"/>
                </a:tc>
                <a:extLst>
                  <a:ext uri="{0D108BD9-81ED-4DB2-BD59-A6C34878D82A}">
                    <a16:rowId xmlns:a16="http://schemas.microsoft.com/office/drawing/2014/main" val="10000"/>
                  </a:ext>
                </a:extLst>
              </a:tr>
              <a:tr h="1965960">
                <a:tc>
                  <a:txBody>
                    <a:bodyPr/>
                    <a:lstStyle/>
                    <a:p>
                      <a:pPr algn="l"/>
                      <a:r>
                        <a:rPr sz="1000" b="0"/>
                        <a:t>15</a:t>
                      </a:r>
                      <a:endParaRPr sz="1000" b="0">
                        <a:latin typeface="Times New Roman"/>
                      </a:endParaRPr>
                    </a:p>
                  </a:txBody>
                  <a:tcPr marL="22860" marR="22860" marT="22860" marB="18288"/>
                </a:tc>
                <a:tc>
                  <a:txBody>
                    <a:bodyPr/>
                    <a:lstStyle/>
                    <a:p>
                      <a:pPr algn="l"/>
                      <a:r>
                        <a:rPr sz="1000" b="0" dirty="0"/>
                        <a:t>2022</a:t>
                      </a:r>
                      <a:endParaRPr sz="1000" b="0" dirty="0">
                        <a:latin typeface="Times New Roman"/>
                      </a:endParaRPr>
                    </a:p>
                  </a:txBody>
                  <a:tcPr marL="22860" marR="22860" marT="22860" marB="18288"/>
                </a:tc>
                <a:tc>
                  <a:txBody>
                    <a:bodyPr/>
                    <a:lstStyle/>
                    <a:p>
                      <a:pPr algn="l"/>
                      <a:r>
                        <a:rPr sz="1000" b="0" dirty="0" err="1"/>
                        <a:t>Dingwei</a:t>
                      </a:r>
                      <a:r>
                        <a:rPr sz="1000" b="0" dirty="0"/>
                        <a:t> Ge, </a:t>
                      </a:r>
                      <a:r>
                        <a:rPr sz="1000" b="0" dirty="0" err="1"/>
                        <a:t>Shangping</a:t>
                      </a:r>
                      <a:r>
                        <a:rPr sz="1000" b="0" dirty="0"/>
                        <a:t> Zhong, </a:t>
                      </a:r>
                      <a:r>
                        <a:rPr sz="1000" b="0" dirty="0" err="1"/>
                        <a:t>Kaizhi</a:t>
                      </a:r>
                      <a:r>
                        <a:rPr sz="1000" b="0" dirty="0"/>
                        <a:t> Chen</a:t>
                      </a:r>
                      <a:endParaRPr sz="1000" b="0" dirty="0">
                        <a:latin typeface="Times New Roman"/>
                      </a:endParaRPr>
                    </a:p>
                  </a:txBody>
                  <a:tcPr marL="22860" marR="22860" marT="22860" marB="18288"/>
                </a:tc>
                <a:tc>
                  <a:txBody>
                    <a:bodyPr/>
                    <a:lstStyle/>
                    <a:p>
                      <a:pPr algn="l"/>
                      <a:r>
                        <a:rPr sz="1000" b="0" dirty="0"/>
                        <a:t>Multi-Source Data Fusion for Insider Threat Detection Using Residual Networks</a:t>
                      </a:r>
                      <a:endParaRPr sz="1000" b="0" dirty="0">
                        <a:latin typeface="Times New Roman"/>
                      </a:endParaRPr>
                    </a:p>
                  </a:txBody>
                  <a:tcPr marL="22860" marR="22860" marT="22860" marB="18288"/>
                </a:tc>
                <a:tc>
                  <a:txBody>
                    <a:bodyPr/>
                    <a:lstStyle/>
                    <a:p>
                      <a:pPr algn="l"/>
                      <a:r>
                        <a:rPr sz="1000" b="0" dirty="0"/>
                        <a:t>IEEE CECIT 2022</a:t>
                      </a:r>
                      <a:endParaRPr sz="1000" b="0" dirty="0">
                        <a:latin typeface="Times New Roman"/>
                      </a:endParaRPr>
                    </a:p>
                  </a:txBody>
                  <a:tcPr marL="22860" marR="22860" marT="22860" marB="18288"/>
                </a:tc>
                <a:tc>
                  <a:txBody>
                    <a:bodyPr/>
                    <a:lstStyle/>
                    <a:p>
                      <a:pPr algn="l"/>
                      <a:r>
                        <a:rPr sz="1000" b="0" dirty="0"/>
                        <a:t>Combine information from multiple data sources for improved insider-threat detection.</a:t>
                      </a:r>
                      <a:endParaRPr sz="1000" b="0" dirty="0">
                        <a:latin typeface="Times New Roman"/>
                      </a:endParaRPr>
                    </a:p>
                  </a:txBody>
                  <a:tcPr marL="22860" marR="22860" marT="22860" marB="18288"/>
                </a:tc>
                <a:tc>
                  <a:txBody>
                    <a:bodyPr/>
                    <a:lstStyle/>
                    <a:p>
                      <a:pPr algn="l"/>
                      <a:r>
                        <a:rPr sz="1000" b="0" dirty="0"/>
                        <a:t>Residual Neural Network; multi-source data fusion</a:t>
                      </a:r>
                      <a:endParaRPr sz="1000" b="0" dirty="0">
                        <a:latin typeface="Times New Roman"/>
                      </a:endParaRPr>
                    </a:p>
                  </a:txBody>
                  <a:tcPr marL="22860" marR="22860" marT="22860" marB="18288"/>
                </a:tc>
                <a:tc>
                  <a:txBody>
                    <a:bodyPr/>
                    <a:lstStyle/>
                    <a:p>
                      <a:pPr algn="l"/>
                      <a:r>
                        <a:rPr sz="1000" b="0"/>
                        <a:t>Insider-threat behavioral data / CERT</a:t>
                      </a:r>
                      <a:endParaRPr sz="1000" b="0">
                        <a:latin typeface="Times New Roman"/>
                      </a:endParaRPr>
                    </a:p>
                  </a:txBody>
                  <a:tcPr marL="22860" marR="22860" marT="22860" marB="18288"/>
                </a:tc>
                <a:tc>
                  <a:txBody>
                    <a:bodyPr/>
                    <a:lstStyle/>
                    <a:p>
                      <a:pPr algn="l"/>
                      <a:r>
                        <a:rPr sz="1000" b="0"/>
                        <a:t>Multi-source activity features; contextual information; behavioral patterns</a:t>
                      </a:r>
                      <a:endParaRPr sz="1000" b="0">
                        <a:latin typeface="Times New Roman"/>
                      </a:endParaRPr>
                    </a:p>
                  </a:txBody>
                  <a:tcPr marL="22860" marR="22860" marT="22860" marB="18288"/>
                </a:tc>
                <a:tc>
                  <a:txBody>
                    <a:bodyPr/>
                    <a:lstStyle/>
                    <a:p>
                      <a:pPr algn="l"/>
                      <a:r>
                        <a:rPr sz="1000" b="0"/>
                        <a:t>Multi-source fusion captures richer contextual information for complex insider behaviors.</a:t>
                      </a:r>
                      <a:endParaRPr sz="1000" b="0">
                        <a:latin typeface="Times New Roman"/>
                      </a:endParaRPr>
                    </a:p>
                  </a:txBody>
                  <a:tcPr marL="22860" marR="22860" marT="22860" marB="18288"/>
                </a:tc>
                <a:tc>
                  <a:txBody>
                    <a:bodyPr/>
                    <a:lstStyle/>
                    <a:p>
                      <a:pPr algn="l"/>
                      <a:r>
                        <a:rPr sz="1000" b="0"/>
                        <a:t>Does not explicitly reconstruct temporal attack sequences or combine behavioral evidence with resource sensitivity and explainable risk scoring.</a:t>
                      </a:r>
                      <a:endParaRPr sz="1000" b="0">
                        <a:latin typeface="Times New Roman"/>
                      </a:endParaRPr>
                    </a:p>
                  </a:txBody>
                  <a:tcPr marL="22860" marR="22860" marT="22860" marB="18288"/>
                </a:tc>
                <a:tc>
                  <a:txBody>
                    <a:bodyPr/>
                    <a:lstStyle/>
                    <a:p>
                      <a:pPr algn="l"/>
                      <a:r>
                        <a:rPr sz="1000" b="0" dirty="0"/>
                        <a:t>10.1109/CECIT58139.2022.00069</a:t>
                      </a:r>
                      <a:endParaRPr sz="1000" b="0" dirty="0">
                        <a:latin typeface="Times New Roman"/>
                      </a:endParaRPr>
                    </a:p>
                  </a:txBody>
                  <a:tcPr marL="22860" marR="22860" marT="22860" marB="18288"/>
                </a:tc>
                <a:extLst>
                  <a:ext uri="{0D108BD9-81ED-4DB2-BD59-A6C34878D82A}">
                    <a16:rowId xmlns:a16="http://schemas.microsoft.com/office/drawing/2014/main" val="10001"/>
                  </a:ext>
                </a:extLst>
              </a:tr>
              <a:tr h="1965960">
                <a:tc>
                  <a:txBody>
                    <a:bodyPr/>
                    <a:lstStyle/>
                    <a:p>
                      <a:pPr algn="l"/>
                      <a:r>
                        <a:rPr sz="1000" b="0"/>
                        <a:t>16</a:t>
                      </a:r>
                      <a:endParaRPr sz="1000" b="0">
                        <a:latin typeface="Times New Roman"/>
                      </a:endParaRPr>
                    </a:p>
                  </a:txBody>
                  <a:tcPr marL="22860" marR="22860" marT="22860" marB="18288"/>
                </a:tc>
                <a:tc>
                  <a:txBody>
                    <a:bodyPr/>
                    <a:lstStyle/>
                    <a:p>
                      <a:pPr algn="l"/>
                      <a:r>
                        <a:rPr sz="1000" b="0"/>
                        <a:t>2023</a:t>
                      </a:r>
                      <a:endParaRPr sz="1000" b="0">
                        <a:latin typeface="Times New Roman"/>
                      </a:endParaRPr>
                    </a:p>
                  </a:txBody>
                  <a:tcPr marL="22860" marR="22860" marT="22860" marB="18288"/>
                </a:tc>
                <a:tc>
                  <a:txBody>
                    <a:bodyPr/>
                    <a:lstStyle/>
                    <a:p>
                      <a:pPr algn="l"/>
                      <a:r>
                        <a:rPr sz="1000" b="0"/>
                        <a:t>Preetam Pal, Pratik Chattopadhyay, Mayank Swarnkar</a:t>
                      </a:r>
                      <a:endParaRPr sz="1000" b="0">
                        <a:latin typeface="Times New Roman"/>
                      </a:endParaRPr>
                    </a:p>
                  </a:txBody>
                  <a:tcPr marL="22860" marR="22860" marT="22860" marB="18288"/>
                </a:tc>
                <a:tc>
                  <a:txBody>
                    <a:bodyPr/>
                    <a:lstStyle/>
                    <a:p>
                      <a:pPr algn="l"/>
                      <a:r>
                        <a:rPr sz="1000" b="0" dirty="0"/>
                        <a:t>Temporal Feature Aggregation with Attention for Insider Threat Detection from Activity Logs</a:t>
                      </a:r>
                      <a:endParaRPr sz="1000" b="0" dirty="0">
                        <a:latin typeface="Times New Roman"/>
                      </a:endParaRPr>
                    </a:p>
                  </a:txBody>
                  <a:tcPr marL="22860" marR="22860" marT="22860" marB="18288"/>
                </a:tc>
                <a:tc>
                  <a:txBody>
                    <a:bodyPr/>
                    <a:lstStyle/>
                    <a:p>
                      <a:pPr algn="l"/>
                      <a:r>
                        <a:rPr sz="1000" b="0"/>
                        <a:t>Expert Systems with Applications</a:t>
                      </a:r>
                      <a:endParaRPr sz="1000" b="0">
                        <a:latin typeface="Times New Roman"/>
                      </a:endParaRPr>
                    </a:p>
                  </a:txBody>
                  <a:tcPr marL="22860" marR="22860" marT="22860" marB="18288"/>
                </a:tc>
                <a:tc>
                  <a:txBody>
                    <a:bodyPr/>
                    <a:lstStyle/>
                    <a:p>
                      <a:pPr algn="l"/>
                      <a:r>
                        <a:rPr sz="1000" b="0"/>
                        <a:t>Improve insider-threat detection by learning temporal activity patterns and addressing class imbalance.</a:t>
                      </a:r>
                      <a:endParaRPr sz="1000" b="0">
                        <a:latin typeface="Times New Roman"/>
                      </a:endParaRPr>
                    </a:p>
                  </a:txBody>
                  <a:tcPr marL="22860" marR="22860" marT="22860" marB="18288"/>
                </a:tc>
                <a:tc>
                  <a:txBody>
                    <a:bodyPr/>
                    <a:lstStyle/>
                    <a:p>
                      <a:pPr algn="l"/>
                      <a:r>
                        <a:rPr sz="1000" b="0"/>
                        <a:t>Attention; stacked ensemble; temporal feature aggregation</a:t>
                      </a:r>
                      <a:endParaRPr sz="1000" b="0">
                        <a:latin typeface="Times New Roman"/>
                      </a:endParaRPr>
                    </a:p>
                  </a:txBody>
                  <a:tcPr marL="22860" marR="22860" marT="22860" marB="18288"/>
                </a:tc>
                <a:tc>
                  <a:txBody>
                    <a:bodyPr/>
                    <a:lstStyle/>
                    <a:p>
                      <a:pPr algn="l"/>
                      <a:r>
                        <a:rPr sz="1000" b="0" dirty="0"/>
                        <a:t>CMU CERT v4.2, v5.2, v6.2</a:t>
                      </a:r>
                      <a:endParaRPr sz="1000" b="0" dirty="0">
                        <a:latin typeface="Times New Roman"/>
                      </a:endParaRPr>
                    </a:p>
                  </a:txBody>
                  <a:tcPr marL="22860" marR="22860" marT="22860" marB="18288"/>
                </a:tc>
                <a:tc>
                  <a:txBody>
                    <a:bodyPr/>
                    <a:lstStyle/>
                    <a:p>
                      <a:pPr algn="l"/>
                      <a:r>
                        <a:rPr sz="1000" b="0" dirty="0"/>
                        <a:t>User activity categories; temporal features; class imbalance</a:t>
                      </a:r>
                      <a:endParaRPr sz="1000" b="0" dirty="0">
                        <a:latin typeface="Times New Roman"/>
                      </a:endParaRPr>
                    </a:p>
                  </a:txBody>
                  <a:tcPr marL="22860" marR="22860" marT="22860" marB="18288"/>
                </a:tc>
                <a:tc>
                  <a:txBody>
                    <a:bodyPr/>
                    <a:lstStyle/>
                    <a:p>
                      <a:pPr algn="l"/>
                      <a:r>
                        <a:rPr sz="1000" b="0" dirty="0"/>
                        <a:t>Temporal feature aggregation and attention-based ensembles provide strong detection performance.</a:t>
                      </a:r>
                      <a:endParaRPr sz="1000" b="0" dirty="0">
                        <a:latin typeface="Times New Roman"/>
                      </a:endParaRPr>
                    </a:p>
                  </a:txBody>
                  <a:tcPr marL="22860" marR="22860" marT="22860" marB="18288"/>
                </a:tc>
                <a:tc>
                  <a:txBody>
                    <a:bodyPr/>
                    <a:lstStyle/>
                    <a:p>
                      <a:pPr algn="l"/>
                      <a:r>
                        <a:rPr sz="1000" b="0" dirty="0"/>
                        <a:t>Considers temporal information but does not provide unified incident reconstruction, resource sensitivity and explainable dynamic risk scoring.</a:t>
                      </a:r>
                      <a:endParaRPr sz="1000" b="0" dirty="0">
                        <a:latin typeface="Times New Roman"/>
                      </a:endParaRPr>
                    </a:p>
                  </a:txBody>
                  <a:tcPr marL="22860" marR="22860" marT="22860" marB="18288"/>
                </a:tc>
                <a:tc>
                  <a:txBody>
                    <a:bodyPr/>
                    <a:lstStyle/>
                    <a:p>
                      <a:pPr algn="l"/>
                      <a:r>
                        <a:rPr sz="1000" b="0" dirty="0"/>
                        <a:t>10.1016/j.eswa.2023.119925</a:t>
                      </a:r>
                      <a:endParaRPr sz="1000" b="0" dirty="0">
                        <a:latin typeface="Times New Roman"/>
                      </a:endParaRPr>
                    </a:p>
                  </a:txBody>
                  <a:tcPr marL="22860" marR="22860" marT="22860" marB="18288"/>
                </a:tc>
                <a:extLst>
                  <a:ext uri="{0D108BD9-81ED-4DB2-BD59-A6C34878D82A}">
                    <a16:rowId xmlns:a16="http://schemas.microsoft.com/office/drawing/2014/main" val="10002"/>
                  </a:ext>
                </a:extLst>
              </a:tr>
            </a:tbl>
          </a:graphicData>
        </a:graphic>
      </p:graphicFrame>
      <p:sp>
        <p:nvSpPr>
          <p:cNvPr id="4" name="TextBox 3"/>
          <p:cNvSpPr txBox="1"/>
          <p:nvPr/>
        </p:nvSpPr>
        <p:spPr>
          <a:xfrm>
            <a:off x="182880" y="6565392"/>
            <a:ext cx="11704320" cy="164592"/>
          </a:xfrm>
          <a:prstGeom prst="rect">
            <a:avLst/>
          </a:prstGeom>
          <a:noFill/>
        </p:spPr>
        <p:txBody>
          <a:bodyPr wrap="none">
            <a:spAutoFit/>
          </a:bodyPr>
          <a:lstStyle/>
          <a:p>
            <a:pPr algn="ctr"/>
            <a:r>
              <a:rPr sz="650">
                <a:latin typeface="Times New Roman"/>
              </a:rPr>
              <a:t>Team No. 13  |  AI-Driven Insider Threat Detection Through Behavioral Analytics and Attack Sequence Correlation  |  6/6</a:t>
            </a:r>
          </a:p>
        </p:txBody>
      </p:sp>
      <p:pic>
        <p:nvPicPr>
          <p:cNvPr id="6" name="Picture 5">
            <a:extLst>
              <a:ext uri="{FF2B5EF4-FFF2-40B4-BE49-F238E27FC236}">
                <a16:creationId xmlns:a16="http://schemas.microsoft.com/office/drawing/2014/main" id="{45BF8CEC-3A17-C3A4-6FAA-B252102DE7C0}"/>
              </a:ext>
            </a:extLst>
          </p:cNvPr>
          <p:cNvPicPr>
            <a:picLocks noChangeAspect="1"/>
          </p:cNvPicPr>
          <p:nvPr/>
        </p:nvPicPr>
        <p:blipFill>
          <a:blip r:embed="rId2"/>
          <a:stretch>
            <a:fillRect/>
          </a:stretch>
        </p:blipFill>
        <p:spPr>
          <a:xfrm>
            <a:off x="1" y="-396"/>
            <a:ext cx="1458484" cy="69086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54B581-3E21-4B4E-2A35-F67D3096E5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48C83F0-76BD-4B96-85D5-C1FAD7356279}"/>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Research Gap Identification</a:t>
            </a:r>
          </a:p>
        </p:txBody>
      </p:sp>
      <p:sp>
        <p:nvSpPr>
          <p:cNvPr id="5" name="Date Placeholder 4">
            <a:extLst>
              <a:ext uri="{FF2B5EF4-FFF2-40B4-BE49-F238E27FC236}">
                <a16:creationId xmlns:a16="http://schemas.microsoft.com/office/drawing/2014/main" id="{E9E4C048-DC99-8545-9D85-18D18CC66C3F}"/>
              </a:ext>
            </a:extLst>
          </p:cNvPr>
          <p:cNvSpPr>
            <a:spLocks noGrp="1"/>
          </p:cNvSpPr>
          <p:nvPr>
            <p:ph type="dt" sz="half" idx="10"/>
          </p:nvPr>
        </p:nvSpPr>
        <p:spPr/>
        <p:txBody>
          <a:bodyPr/>
          <a:lstStyle/>
          <a:p>
            <a:fld id="{196CB346-A29B-614A-90B7-3F58220E4132}" type="datetime1">
              <a:rPr lang="en-IN" smtClean="0"/>
              <a:t>31-08-2026</a:t>
            </a:fld>
            <a:endParaRPr lang="en-US" dirty="0"/>
          </a:p>
        </p:txBody>
      </p:sp>
      <p:sp>
        <p:nvSpPr>
          <p:cNvPr id="7" name="Slide Number Placeholder 6">
            <a:extLst>
              <a:ext uri="{FF2B5EF4-FFF2-40B4-BE49-F238E27FC236}">
                <a16:creationId xmlns:a16="http://schemas.microsoft.com/office/drawing/2014/main" id="{A85A645B-E9B2-A17C-A19D-59B4792D4E40}"/>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2" name="Picture 1">
            <a:extLst>
              <a:ext uri="{FF2B5EF4-FFF2-40B4-BE49-F238E27FC236}">
                <a16:creationId xmlns:a16="http://schemas.microsoft.com/office/drawing/2014/main" id="{FF7B1205-708D-AB89-EA58-78AFC93D26FF}"/>
              </a:ext>
            </a:extLst>
          </p:cNvPr>
          <p:cNvPicPr>
            <a:picLocks noChangeAspect="1"/>
          </p:cNvPicPr>
          <p:nvPr/>
        </p:nvPicPr>
        <p:blipFill>
          <a:blip r:embed="rId2"/>
          <a:stretch>
            <a:fillRect/>
          </a:stretch>
        </p:blipFill>
        <p:spPr>
          <a:xfrm>
            <a:off x="1" y="-396"/>
            <a:ext cx="1458484" cy="690861"/>
          </a:xfrm>
          <a:prstGeom prst="rect">
            <a:avLst/>
          </a:prstGeom>
        </p:spPr>
      </p:pic>
      <p:graphicFrame>
        <p:nvGraphicFramePr>
          <p:cNvPr id="3" name="Table 2">
            <a:extLst>
              <a:ext uri="{FF2B5EF4-FFF2-40B4-BE49-F238E27FC236}">
                <a16:creationId xmlns:a16="http://schemas.microsoft.com/office/drawing/2014/main" id="{BEF1EDB7-8761-CEC4-B291-FF5C19314D39}"/>
              </a:ext>
            </a:extLst>
          </p:cNvPr>
          <p:cNvGraphicFramePr>
            <a:graphicFrameLocks noGrp="1"/>
          </p:cNvGraphicFramePr>
          <p:nvPr>
            <p:extLst>
              <p:ext uri="{D42A27DB-BD31-4B8C-83A1-F6EECF244321}">
                <p14:modId xmlns:p14="http://schemas.microsoft.com/office/powerpoint/2010/main" val="3315958569"/>
              </p:ext>
            </p:extLst>
          </p:nvPr>
        </p:nvGraphicFramePr>
        <p:xfrm>
          <a:off x="654518" y="1328056"/>
          <a:ext cx="10553411" cy="5437134"/>
        </p:xfrm>
        <a:graphic>
          <a:graphicData uri="http://schemas.openxmlformats.org/drawingml/2006/table">
            <a:tbl>
              <a:tblPr/>
              <a:tblGrid>
                <a:gridCol w="647510">
                  <a:extLst>
                    <a:ext uri="{9D8B030D-6E8A-4147-A177-3AD203B41FA5}">
                      <a16:colId xmlns:a16="http://schemas.microsoft.com/office/drawing/2014/main" val="833555039"/>
                    </a:ext>
                  </a:extLst>
                </a:gridCol>
                <a:gridCol w="1393371">
                  <a:extLst>
                    <a:ext uri="{9D8B030D-6E8A-4147-A177-3AD203B41FA5}">
                      <a16:colId xmlns:a16="http://schemas.microsoft.com/office/drawing/2014/main" val="848811906"/>
                    </a:ext>
                  </a:extLst>
                </a:gridCol>
                <a:gridCol w="1469572">
                  <a:extLst>
                    <a:ext uri="{9D8B030D-6E8A-4147-A177-3AD203B41FA5}">
                      <a16:colId xmlns:a16="http://schemas.microsoft.com/office/drawing/2014/main" val="1963808402"/>
                    </a:ext>
                  </a:extLst>
                </a:gridCol>
                <a:gridCol w="2416628">
                  <a:extLst>
                    <a:ext uri="{9D8B030D-6E8A-4147-A177-3AD203B41FA5}">
                      <a16:colId xmlns:a16="http://schemas.microsoft.com/office/drawing/2014/main" val="7160780"/>
                    </a:ext>
                  </a:extLst>
                </a:gridCol>
                <a:gridCol w="2100943">
                  <a:extLst>
                    <a:ext uri="{9D8B030D-6E8A-4147-A177-3AD203B41FA5}">
                      <a16:colId xmlns:a16="http://schemas.microsoft.com/office/drawing/2014/main" val="315075706"/>
                    </a:ext>
                  </a:extLst>
                </a:gridCol>
                <a:gridCol w="2525387">
                  <a:extLst>
                    <a:ext uri="{9D8B030D-6E8A-4147-A177-3AD203B41FA5}">
                      <a16:colId xmlns:a16="http://schemas.microsoft.com/office/drawing/2014/main" val="3069808396"/>
                    </a:ext>
                  </a:extLst>
                </a:gridCol>
              </a:tblGrid>
              <a:tr h="558496">
                <a:tc>
                  <a:txBody>
                    <a:bodyPr/>
                    <a:lstStyle/>
                    <a:p>
                      <a:pPr>
                        <a:buNone/>
                      </a:pPr>
                      <a:r>
                        <a:rPr lang="en-IN" sz="1500" b="1" dirty="0" err="1"/>
                        <a:t>S.No</a:t>
                      </a:r>
                      <a:r>
                        <a:rPr lang="en-IN" sz="1500" b="1" dirty="0"/>
                        <a:t>.</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b="1" dirty="0"/>
                        <a:t>Paper Title</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b="1" dirty="0"/>
                        <a:t>Author Name(s)</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b="1" dirty="0"/>
                        <a:t>Methodology / Model Used</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b="1" dirty="0"/>
                        <a:t>Key Findings</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b="1" dirty="0"/>
                        <a:t>Research Gap Identified</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9430168"/>
                  </a:ext>
                </a:extLst>
              </a:tr>
              <a:tr h="1164656">
                <a:tc>
                  <a:txBody>
                    <a:bodyPr/>
                    <a:lstStyle/>
                    <a:p>
                      <a:pPr>
                        <a:buNone/>
                      </a:pPr>
                      <a:r>
                        <a:rPr lang="en-IN" sz="1000" b="1" dirty="0"/>
                        <a:t>1</a:t>
                      </a:r>
                      <a:endParaRPr lang="en-IN" sz="1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000" dirty="0"/>
                        <a:t>A Review of Insider Threat Detection: Classification, Machine Learning Techniques, Datasets, Open Challenges, and Recommendations</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000" dirty="0"/>
                        <a:t>M. N. Al-</a:t>
                      </a:r>
                      <a:r>
                        <a:rPr lang="en-IN" sz="1000" dirty="0" err="1"/>
                        <a:t>Mhiqani</a:t>
                      </a:r>
                      <a:r>
                        <a:rPr lang="en-IN" sz="1000" dirty="0"/>
                        <a:t> et al.</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000" dirty="0"/>
                        <a:t>Machine Learning, anomaly detection, supervised and unsupervised learning</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000" dirty="0"/>
                        <a:t>Reviews major insider-threat detection techniques and datasets and highlights the importance of </a:t>
                      </a:r>
                      <a:r>
                        <a:rPr lang="en-IN" sz="1000" dirty="0" err="1"/>
                        <a:t>behavioral</a:t>
                      </a:r>
                      <a:r>
                        <a:rPr lang="en-IN" sz="1000" dirty="0"/>
                        <a:t> analysis and ML-based detection.</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000" dirty="0"/>
                        <a:t>The study identifies challenges in existing insider-threat detection but does not provide an integrated system for </a:t>
                      </a:r>
                      <a:r>
                        <a:rPr lang="en-IN" sz="1000" b="0" dirty="0"/>
                        <a:t>temporal attack-sequence correlation, resource sensitivity analysis, dynamic risk scoring, and explainable alerts</a:t>
                      </a:r>
                      <a:r>
                        <a:rPr lang="en-IN" sz="1000" dirty="0"/>
                        <a:t>.</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0118778"/>
                  </a:ext>
                </a:extLst>
              </a:tr>
              <a:tr h="1001028">
                <a:tc>
                  <a:txBody>
                    <a:bodyPr/>
                    <a:lstStyle/>
                    <a:p>
                      <a:pPr>
                        <a:buNone/>
                      </a:pPr>
                      <a:r>
                        <a:rPr lang="en-IN" sz="1000" dirty="0"/>
                        <a:t>2</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000" dirty="0"/>
                        <a:t>Exploring Anomalous Behaviour Detection and Classification for Insider Threat Identification</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000" dirty="0"/>
                        <a:t>Duc C. Le</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000" dirty="0"/>
                        <a:t>Machine Learning, </a:t>
                      </a:r>
                      <a:r>
                        <a:rPr lang="en-IN" sz="1000" dirty="0" err="1"/>
                        <a:t>behavioral</a:t>
                      </a:r>
                      <a:r>
                        <a:rPr lang="en-IN" sz="1000" dirty="0"/>
                        <a:t> analysis, anomaly detection and classification</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000" dirty="0"/>
                        <a:t>Demonstrates that user-</a:t>
                      </a:r>
                      <a:r>
                        <a:rPr lang="en-IN" sz="1000" dirty="0" err="1"/>
                        <a:t>centered</a:t>
                      </a:r>
                      <a:r>
                        <a:rPr lang="en-IN" sz="1000" dirty="0"/>
                        <a:t> </a:t>
                      </a:r>
                      <a:r>
                        <a:rPr lang="en-IN" sz="1000" dirty="0" err="1"/>
                        <a:t>behavioral</a:t>
                      </a:r>
                      <a:r>
                        <a:rPr lang="en-IN" sz="1000" dirty="0"/>
                        <a:t> analysis can identify anomalous activities associated with insider threats.</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000" dirty="0"/>
                        <a:t>Mainly focuses on </a:t>
                      </a:r>
                      <a:r>
                        <a:rPr lang="en-IN" sz="1000" b="0" dirty="0"/>
                        <a:t>detecting and classifying anomalous </a:t>
                      </a:r>
                      <a:r>
                        <a:rPr lang="en-IN" sz="1000" b="0" dirty="0" err="1"/>
                        <a:t>behavior</a:t>
                      </a:r>
                      <a:r>
                        <a:rPr lang="en-IN" sz="1000" dirty="0"/>
                        <a:t>. It does not comprehensively correlate multiple related activities to reconstruct an attack sequence or evaluate the sensitivity and impact of accessed resources.</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5268322"/>
                  </a:ext>
                </a:extLst>
              </a:tr>
              <a:tr h="1020278">
                <a:tc>
                  <a:txBody>
                    <a:bodyPr/>
                    <a:lstStyle/>
                    <a:p>
                      <a:pPr>
                        <a:buNone/>
                      </a:pPr>
                      <a:r>
                        <a:rPr lang="en-IN" sz="1000" dirty="0"/>
                        <a:t>3</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000" dirty="0" err="1"/>
                        <a:t>Behavioral</a:t>
                      </a:r>
                      <a:r>
                        <a:rPr lang="en-IN" sz="1000" dirty="0"/>
                        <a:t> Based Insider Threat Detection Using Deep Learning</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000" dirty="0"/>
                        <a:t>R. Nasir, M. Afzal, R. Latif, W. Iqbal</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000" dirty="0"/>
                        <a:t>LSTM-CNN, LSTM-RNN, Random Forest, One-Class SVM, Markov Chain, GRU</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000" dirty="0"/>
                        <a:t>Deep-learning and ML approaches can effectively detect insider threats from user </a:t>
                      </a:r>
                      <a:r>
                        <a:rPr lang="en-IN" sz="1000" dirty="0" err="1"/>
                        <a:t>behavioral</a:t>
                      </a:r>
                      <a:r>
                        <a:rPr lang="en-IN" sz="1000" dirty="0"/>
                        <a:t> patterns with strong detection performance.</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000" dirty="0"/>
                        <a:t>The approach primarily concentrates on </a:t>
                      </a:r>
                      <a:r>
                        <a:rPr lang="en-IN" sz="1000" b="0" dirty="0" err="1"/>
                        <a:t>behavior</a:t>
                      </a:r>
                      <a:r>
                        <a:rPr lang="en-IN" sz="1000" b="0" dirty="0"/>
                        <a:t> classification/detection </a:t>
                      </a:r>
                      <a:r>
                        <a:rPr lang="en-IN" sz="1000" dirty="0"/>
                        <a:t>and does not integrate attack-sequence reconstruction, resource sensitivity, dynamic incident risk scoring, and analyst-oriented explanations into a single framework.</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6177523"/>
                  </a:ext>
                </a:extLst>
              </a:tr>
              <a:tr h="701936">
                <a:tc>
                  <a:txBody>
                    <a:bodyPr/>
                    <a:lstStyle/>
                    <a:p>
                      <a:pPr>
                        <a:buNone/>
                      </a:pPr>
                      <a:r>
                        <a:rPr lang="en-IN" sz="1000" dirty="0"/>
                        <a:t>4</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000" dirty="0"/>
                        <a:t>Doc2vec-Based Insider Threat Detection Through Behaviour Analysis of Multi-Source Security Logs</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000" dirty="0"/>
                        <a:t>Liu et al.</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000" dirty="0"/>
                        <a:t>Word2Vec / Doc2Vec, </a:t>
                      </a:r>
                      <a:r>
                        <a:rPr lang="en-IN" sz="1000" dirty="0" err="1"/>
                        <a:t>behavioral</a:t>
                      </a:r>
                      <a:r>
                        <a:rPr lang="en-IN" sz="1000" dirty="0"/>
                        <a:t> analysis, multi-source log analysis</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000" dirty="0"/>
                        <a:t>Shows that representing security-log events and user </a:t>
                      </a:r>
                      <a:r>
                        <a:rPr lang="en-IN" sz="1000" dirty="0" err="1"/>
                        <a:t>behavior</a:t>
                      </a:r>
                      <a:r>
                        <a:rPr lang="en-IN" sz="1000" dirty="0"/>
                        <a:t> from multiple sources can improve insider-threat detection.</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000" dirty="0"/>
                        <a:t>Although multi-source </a:t>
                      </a:r>
                      <a:r>
                        <a:rPr lang="en-IN" sz="1000" dirty="0" err="1"/>
                        <a:t>behavior</a:t>
                      </a:r>
                      <a:r>
                        <a:rPr lang="en-IN" sz="1000" dirty="0"/>
                        <a:t> is considered, the approach does not explicitly provide a complete </a:t>
                      </a:r>
                      <a:r>
                        <a:rPr lang="en-IN" sz="1000" b="0" dirty="0"/>
                        <a:t>temporal correlation mechanism for reconstructing attack sequences</a:t>
                      </a:r>
                      <a:r>
                        <a:rPr lang="en-IN" sz="1000" dirty="0"/>
                        <a:t>, combined with resource-impact assessment and explainable dynamic risk scoring.</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4071143"/>
                  </a:ext>
                </a:extLst>
              </a:tr>
              <a:tr h="701936">
                <a:tc>
                  <a:txBody>
                    <a:bodyPr/>
                    <a:lstStyle/>
                    <a:p>
                      <a:pPr>
                        <a:buNone/>
                      </a:pPr>
                      <a:endParaRPr lang="en-IN" sz="1500"/>
                    </a:p>
                  </a:txBody>
                  <a:tcPr marL="76339" marR="76339" marT="38170" marB="3817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buNone/>
                      </a:pPr>
                      <a:endParaRPr lang="en-IN" sz="1500"/>
                    </a:p>
                  </a:txBody>
                  <a:tcPr marL="76339" marR="76339" marT="38170" marB="3817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buNone/>
                      </a:pPr>
                      <a:endParaRPr lang="en-IN" sz="1500"/>
                    </a:p>
                  </a:txBody>
                  <a:tcPr marL="76339" marR="76339" marT="38170" marB="3817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buNone/>
                      </a:pPr>
                      <a:endParaRPr lang="en-IN" sz="1500"/>
                    </a:p>
                  </a:txBody>
                  <a:tcPr marL="76339" marR="76339" marT="38170" marB="3817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buNone/>
                      </a:pPr>
                      <a:endParaRPr lang="en-IN" sz="1500"/>
                    </a:p>
                  </a:txBody>
                  <a:tcPr marL="76339" marR="76339" marT="38170" marB="3817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buNone/>
                      </a:pPr>
                      <a:endParaRPr lang="en-IN" sz="1500" dirty="0"/>
                    </a:p>
                  </a:txBody>
                  <a:tcPr marL="76339" marR="76339" marT="38170" marB="3817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493651099"/>
                  </a:ext>
                </a:extLst>
              </a:tr>
            </a:tbl>
          </a:graphicData>
        </a:graphic>
      </p:graphicFrame>
      <p:sp>
        <p:nvSpPr>
          <p:cNvPr id="11" name="Footer Placeholder 2">
            <a:extLst>
              <a:ext uri="{FF2B5EF4-FFF2-40B4-BE49-F238E27FC236}">
                <a16:creationId xmlns:a16="http://schemas.microsoft.com/office/drawing/2014/main" id="{1A2691C9-D5FC-4B5D-BC2B-27DFE115B382}"/>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762340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Innovation</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idx="1"/>
          </p:nvPr>
        </p:nvSpPr>
        <p:spPr>
          <a:xfrm>
            <a:off x="838200" y="1250731"/>
            <a:ext cx="10515600" cy="5002923"/>
          </a:xfrm>
        </p:spPr>
        <p:txBody>
          <a:bodyPr>
            <a:normAutofit/>
          </a:bodyPr>
          <a:lstStyle/>
          <a:p>
            <a:pPr eaLnBrk="0" fontAlgn="base" hangingPunct="0">
              <a:lnSpc>
                <a:spcPct val="100000"/>
              </a:lnSpc>
              <a:spcBef>
                <a:spcPct val="0"/>
              </a:spcBef>
              <a:spcAft>
                <a:spcPct val="0"/>
              </a:spcAft>
            </a:pPr>
            <a:endParaRPr lang="en-US" sz="2000" dirty="0"/>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p:txBody>
          <a:bodyPr/>
          <a:lstStyle/>
          <a:p>
            <a:fld id="{196CB346-A29B-614A-90B7-3F58220E4132}" type="datetime1">
              <a:rPr lang="en-IN" smtClean="0"/>
              <a:t>31-08-2026</a:t>
            </a:fld>
            <a:endParaRPr lang="en-US" dirty="0"/>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13</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2"/>
          <a:stretch>
            <a:fillRect/>
          </a:stretch>
        </p:blipFill>
        <p:spPr>
          <a:xfrm>
            <a:off x="1" y="-396"/>
            <a:ext cx="1458484" cy="690861"/>
          </a:xfrm>
          <a:prstGeom prst="rect">
            <a:avLst/>
          </a:prstGeom>
        </p:spPr>
      </p:pic>
      <p:sp>
        <p:nvSpPr>
          <p:cNvPr id="4" name="TextBox 3">
            <a:extLst>
              <a:ext uri="{FF2B5EF4-FFF2-40B4-BE49-F238E27FC236}">
                <a16:creationId xmlns:a16="http://schemas.microsoft.com/office/drawing/2014/main" id="{51EFC2A6-D5E1-4B0E-EBA1-4D4D15920815}"/>
              </a:ext>
            </a:extLst>
          </p:cNvPr>
          <p:cNvSpPr txBox="1"/>
          <p:nvPr/>
        </p:nvSpPr>
        <p:spPr>
          <a:xfrm>
            <a:off x="943898" y="1595830"/>
            <a:ext cx="9781486" cy="4247317"/>
          </a:xfrm>
          <a:prstGeom prst="rect">
            <a:avLst/>
          </a:prstGeom>
          <a:noFill/>
        </p:spPr>
        <p:txBody>
          <a:bodyPr wrap="square">
            <a:spAutoFit/>
          </a:bodyPr>
          <a:lstStyle/>
          <a:p>
            <a:r>
              <a:rPr lang="en-IN" b="1" dirty="0"/>
              <a:t>Temporal Activity Correlation</a:t>
            </a:r>
            <a:br>
              <a:rPr lang="en-IN" dirty="0"/>
            </a:br>
            <a:r>
              <a:rPr lang="en-IN" dirty="0"/>
              <a:t>Integrates multiple suspicious user activities based on their temporal relationships to identify and reconstruct potential insider attack sequences, rather than </a:t>
            </a:r>
            <a:r>
              <a:rPr lang="en-IN" dirty="0" err="1"/>
              <a:t>analyzing</a:t>
            </a:r>
            <a:r>
              <a:rPr lang="en-IN" dirty="0"/>
              <a:t> activities individually.</a:t>
            </a:r>
            <a:br>
              <a:rPr lang="en-IN" dirty="0"/>
            </a:br>
            <a:r>
              <a:rPr lang="en-IN" b="1" dirty="0"/>
              <a:t>Resource-Sensitivity-Based Analysis</a:t>
            </a:r>
            <a:br>
              <a:rPr lang="en-IN" dirty="0"/>
            </a:br>
            <a:r>
              <a:rPr lang="en-IN" dirty="0"/>
              <a:t>Considers the sensitivity and potential organizational impact of accessed resources along with user </a:t>
            </a:r>
            <a:r>
              <a:rPr lang="en-IN" dirty="0" err="1"/>
              <a:t>behavioral</a:t>
            </a:r>
            <a:r>
              <a:rPr lang="en-IN" dirty="0"/>
              <a:t> anomalies, providing more contextual threat assessment.</a:t>
            </a:r>
            <a:br>
              <a:rPr lang="en-IN" dirty="0"/>
            </a:br>
            <a:r>
              <a:rPr lang="en-IN" b="1" dirty="0"/>
              <a:t>Dynamic Risk Scoring</a:t>
            </a:r>
            <a:br>
              <a:rPr lang="en-IN" dirty="0"/>
            </a:br>
            <a:r>
              <a:rPr lang="en-IN" dirty="0"/>
              <a:t>Combines </a:t>
            </a:r>
            <a:r>
              <a:rPr lang="en-IN" dirty="0" err="1"/>
              <a:t>behavioral</a:t>
            </a:r>
            <a:r>
              <a:rPr lang="en-IN" dirty="0"/>
              <a:t> anomalies, temporal attack-sequence information, and resource impact to assign a dynamic risk score to detected incidents.</a:t>
            </a:r>
            <a:br>
              <a:rPr lang="en-IN" dirty="0"/>
            </a:br>
            <a:r>
              <a:rPr lang="en-IN" b="1" dirty="0"/>
              <a:t>Explainable Threat Detection</a:t>
            </a:r>
            <a:br>
              <a:rPr lang="en-IN" dirty="0"/>
            </a:br>
            <a:r>
              <a:rPr lang="en-IN" dirty="0"/>
              <a:t>Provides human-readable evidence and reasoning behind each alert, helping security analysts understand why an activity or sequence was considered suspicious.</a:t>
            </a:r>
            <a:br>
              <a:rPr lang="en-IN" dirty="0"/>
            </a:br>
            <a:r>
              <a:rPr lang="en-IN" b="1" dirty="0"/>
              <a:t>Unified Detection Framework</a:t>
            </a:r>
            <a:br>
              <a:rPr lang="en-IN" dirty="0"/>
            </a:br>
            <a:r>
              <a:rPr lang="en-IN" dirty="0"/>
              <a:t>Brings together </a:t>
            </a:r>
            <a:r>
              <a:rPr lang="en-IN" dirty="0" err="1"/>
              <a:t>behavioral</a:t>
            </a:r>
            <a:r>
              <a:rPr lang="en-IN" dirty="0"/>
              <a:t> analysis, temporal attack-sequence correlation, resource sensitivity, dynamic risk scoring, and explainability into a single integrated insider-threat detection approach.</a:t>
            </a:r>
          </a:p>
        </p:txBody>
      </p:sp>
      <p:sp>
        <p:nvSpPr>
          <p:cNvPr id="11" name="Footer Placeholder 2">
            <a:extLst>
              <a:ext uri="{FF2B5EF4-FFF2-40B4-BE49-F238E27FC236}">
                <a16:creationId xmlns:a16="http://schemas.microsoft.com/office/drawing/2014/main" id="{444AC3EB-3F86-4AA5-854B-7AEEB8EE2B29}"/>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3350041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88FE3-0537-C769-87FA-2F6774A37D75}"/>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 Creativity, and Novelty</a:t>
            </a:r>
            <a:endParaRPr lang="en-IN" dirty="0"/>
          </a:p>
        </p:txBody>
      </p:sp>
      <p:sp>
        <p:nvSpPr>
          <p:cNvPr id="3" name="Content Placeholder 2">
            <a:extLst>
              <a:ext uri="{FF2B5EF4-FFF2-40B4-BE49-F238E27FC236}">
                <a16:creationId xmlns:a16="http://schemas.microsoft.com/office/drawing/2014/main" id="{EE2FBBC1-8CB2-2CF8-A9A2-AFC6AE74C7C2}"/>
              </a:ext>
            </a:extLst>
          </p:cNvPr>
          <p:cNvSpPr>
            <a:spLocks noGrp="1"/>
          </p:cNvSpPr>
          <p:nvPr>
            <p:ph idx="1"/>
          </p:nvPr>
        </p:nvSpPr>
        <p:spPr>
          <a:xfrm>
            <a:off x="690716" y="2187574"/>
            <a:ext cx="10515600" cy="4351338"/>
          </a:xfrm>
        </p:spPr>
        <p:txBody>
          <a:bodyPr>
            <a:normAutofit/>
          </a:bodyPr>
          <a:lstStyle/>
          <a:p>
            <a:pPr marL="0" lvl="0" indent="0">
              <a:buNone/>
            </a:pPr>
            <a:r>
              <a:rPr lang="en-IN" sz="2000" b="1" dirty="0"/>
              <a:t>Creativity</a:t>
            </a:r>
          </a:p>
          <a:p>
            <a:r>
              <a:rPr lang="en-IN" sz="2000" dirty="0"/>
              <a:t>Integrates three distinct analytical dimensions — temporal relationship analysis, resource sensitivity assessment, and dynamic risk scoring — into a single unified threat detection framework.</a:t>
            </a:r>
          </a:p>
          <a:p>
            <a:pPr>
              <a:buNone/>
            </a:pPr>
            <a:endParaRPr lang="en-IN" sz="2000" b="1" dirty="0"/>
          </a:p>
          <a:p>
            <a:pPr>
              <a:buNone/>
            </a:pPr>
            <a:r>
              <a:rPr lang="en-IN" sz="2000" b="1" dirty="0"/>
              <a:t>Novelty</a:t>
            </a:r>
          </a:p>
          <a:p>
            <a:r>
              <a:rPr lang="en-IN" sz="2000" dirty="0"/>
              <a:t>Directly closes the identified research gap by correlating user activities with their security impact, delivering meaningful, actionable insider-threat detection backed by explainable AI insights that analysts can trust and act upon.</a:t>
            </a:r>
          </a:p>
          <a:p>
            <a:endParaRPr lang="en-IN" dirty="0"/>
          </a:p>
        </p:txBody>
      </p:sp>
      <p:sp>
        <p:nvSpPr>
          <p:cNvPr id="4" name="Date Placeholder 3">
            <a:extLst>
              <a:ext uri="{FF2B5EF4-FFF2-40B4-BE49-F238E27FC236}">
                <a16:creationId xmlns:a16="http://schemas.microsoft.com/office/drawing/2014/main" id="{9EBC0F2A-E74B-FACB-820C-033E08ADFF48}"/>
              </a:ext>
            </a:extLst>
          </p:cNvPr>
          <p:cNvSpPr>
            <a:spLocks noGrp="1"/>
          </p:cNvSpPr>
          <p:nvPr>
            <p:ph type="dt" sz="half" idx="10"/>
          </p:nvPr>
        </p:nvSpPr>
        <p:spPr/>
        <p:txBody>
          <a:bodyPr/>
          <a:lstStyle/>
          <a:p>
            <a:fld id="{C7A4DE8B-8D6B-8C46-B882-6A2CD2BC96F0}" type="datetime1">
              <a:rPr lang="en-IN" smtClean="0"/>
              <a:t>31-08-2026</a:t>
            </a:fld>
            <a:endParaRPr lang="en-US"/>
          </a:p>
        </p:txBody>
      </p:sp>
      <p:sp>
        <p:nvSpPr>
          <p:cNvPr id="5" name="Footer Placeholder 4">
            <a:extLst>
              <a:ext uri="{FF2B5EF4-FFF2-40B4-BE49-F238E27FC236}">
                <a16:creationId xmlns:a16="http://schemas.microsoft.com/office/drawing/2014/main" id="{BF59E1BF-36DE-6B8A-6470-AB3975A75CA4}"/>
              </a:ext>
            </a:extLst>
          </p:cNvPr>
          <p:cNvSpPr>
            <a:spLocks noGrp="1"/>
          </p:cNvSpPr>
          <p:nvPr>
            <p:ph type="ftr" sz="quarter" idx="11"/>
          </p:nvPr>
        </p:nvSpPr>
        <p:spPr/>
        <p:txBody>
          <a:bodyPr/>
          <a:lstStyle/>
          <a:p>
            <a:r>
              <a:rPr lang="en-US"/>
              <a:t>REVIEW – 1    Department of CSE</a:t>
            </a:r>
            <a:endParaRPr lang="en-US" dirty="0"/>
          </a:p>
        </p:txBody>
      </p:sp>
      <p:sp>
        <p:nvSpPr>
          <p:cNvPr id="6" name="Slide Number Placeholder 5">
            <a:extLst>
              <a:ext uri="{FF2B5EF4-FFF2-40B4-BE49-F238E27FC236}">
                <a16:creationId xmlns:a16="http://schemas.microsoft.com/office/drawing/2014/main" id="{487D858D-7811-D336-B0DC-E86492DE01E5}"/>
              </a:ext>
            </a:extLst>
          </p:cNvPr>
          <p:cNvSpPr>
            <a:spLocks noGrp="1"/>
          </p:cNvSpPr>
          <p:nvPr>
            <p:ph type="sldNum" sz="quarter" idx="12"/>
          </p:nvPr>
        </p:nvSpPr>
        <p:spPr/>
        <p:txBody>
          <a:bodyPr/>
          <a:lstStyle/>
          <a:p>
            <a:fld id="{B961B71F-4B40-8942-BB88-E0F5C0B46E10}" type="slidenum">
              <a:rPr lang="en-US" smtClean="0"/>
              <a:t>14</a:t>
            </a:fld>
            <a:endParaRPr lang="en-US"/>
          </a:p>
        </p:txBody>
      </p:sp>
    </p:spTree>
    <p:extLst>
      <p:ext uri="{BB962C8B-B14F-4D97-AF65-F5344CB8AC3E}">
        <p14:creationId xmlns:p14="http://schemas.microsoft.com/office/powerpoint/2010/main" val="1315680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Feasibility</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idx="1"/>
          </p:nvPr>
        </p:nvSpPr>
        <p:spPr>
          <a:xfrm>
            <a:off x="838200" y="1250731"/>
            <a:ext cx="10515600" cy="5002923"/>
          </a:xfrm>
        </p:spPr>
        <p:txBody>
          <a:bodyPr>
            <a:normAutofit/>
          </a:bodyPr>
          <a:lstStyle/>
          <a:p>
            <a:pPr eaLnBrk="0" fontAlgn="base" hangingPunct="0">
              <a:lnSpc>
                <a:spcPct val="100000"/>
              </a:lnSpc>
              <a:spcBef>
                <a:spcPct val="0"/>
              </a:spcBef>
              <a:spcAft>
                <a:spcPct val="0"/>
              </a:spcAft>
            </a:pPr>
            <a:endParaRPr lang="en-US" sz="2000" dirty="0"/>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p:txBody>
          <a:bodyPr/>
          <a:lstStyle/>
          <a:p>
            <a:fld id="{196CB346-A29B-614A-90B7-3F58220E4132}" type="datetime1">
              <a:rPr lang="en-IN" smtClean="0"/>
              <a:t>31-08-2026</a:t>
            </a:fld>
            <a:endParaRPr lang="en-US" dirty="0"/>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15</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2"/>
          <a:stretch>
            <a:fillRect/>
          </a:stretch>
        </p:blipFill>
        <p:spPr>
          <a:xfrm>
            <a:off x="1" y="-396"/>
            <a:ext cx="1458484" cy="690861"/>
          </a:xfrm>
          <a:prstGeom prst="rect">
            <a:avLst/>
          </a:prstGeom>
        </p:spPr>
      </p:pic>
      <p:sp>
        <p:nvSpPr>
          <p:cNvPr id="3" name="TextBox 2">
            <a:extLst>
              <a:ext uri="{FF2B5EF4-FFF2-40B4-BE49-F238E27FC236}">
                <a16:creationId xmlns:a16="http://schemas.microsoft.com/office/drawing/2014/main" id="{2CD0C162-AAFF-57D0-C6FC-922499511FB9}"/>
              </a:ext>
            </a:extLst>
          </p:cNvPr>
          <p:cNvSpPr txBox="1"/>
          <p:nvPr/>
        </p:nvSpPr>
        <p:spPr>
          <a:xfrm>
            <a:off x="975694" y="1855327"/>
            <a:ext cx="9224210" cy="4524315"/>
          </a:xfrm>
          <a:prstGeom prst="rect">
            <a:avLst/>
          </a:prstGeom>
          <a:noFill/>
        </p:spPr>
        <p:txBody>
          <a:bodyPr wrap="square" rtlCol="0">
            <a:spAutoFit/>
          </a:bodyPr>
          <a:lstStyle/>
          <a:p>
            <a:r>
              <a:rPr lang="en-IN" dirty="0"/>
              <a:t>• Technical Feasibility: The project can be implemented using Python, machine learning, </a:t>
            </a:r>
            <a:r>
              <a:rPr lang="en-IN" dirty="0" err="1"/>
              <a:t>behavioral</a:t>
            </a:r>
            <a:r>
              <a:rPr lang="en-IN" dirty="0"/>
              <a:t> analytics, temporal activity correlation, risk scoring, and a web-based dashboard.</a:t>
            </a:r>
            <a:br>
              <a:rPr lang="en-IN" dirty="0"/>
            </a:br>
            <a:br>
              <a:rPr lang="en-IN" dirty="0"/>
            </a:br>
            <a:r>
              <a:rPr lang="en-IN" dirty="0"/>
              <a:t>• Dataset Feasibility: The CERT Insider Threat Dataset and controlled simulated security logs can be used for development and evaluation.</a:t>
            </a:r>
            <a:br>
              <a:rPr lang="en-IN" dirty="0"/>
            </a:br>
            <a:br>
              <a:rPr lang="en-IN" dirty="0"/>
            </a:br>
            <a:r>
              <a:rPr lang="en-IN" dirty="0"/>
              <a:t>• Economic Feasibility: The project requires only commonly available software tools and a standard development computer, with no special hardware.</a:t>
            </a:r>
            <a:br>
              <a:rPr lang="en-IN" dirty="0"/>
            </a:br>
            <a:br>
              <a:rPr lang="en-IN" dirty="0"/>
            </a:br>
            <a:r>
              <a:rPr lang="en-IN" dirty="0"/>
              <a:t>• Operational Feasibility: The system can provide an interactive dashboard for monitoring user </a:t>
            </a:r>
            <a:r>
              <a:rPr lang="en-IN" dirty="0" err="1"/>
              <a:t>behavior</a:t>
            </a:r>
            <a:r>
              <a:rPr lang="en-IN" dirty="0"/>
              <a:t>, anomalies, incidents, risk levels, and explainable alerts.</a:t>
            </a:r>
            <a:br>
              <a:rPr lang="en-IN" dirty="0"/>
            </a:br>
            <a:br>
              <a:rPr lang="en-IN" dirty="0"/>
            </a:br>
            <a:r>
              <a:rPr lang="en-IN" dirty="0"/>
              <a:t>• Safety and Ethical Feasibility: No real cyberattack execution is required; benchmark datasets and simulated insider-threat scenarios can be used.</a:t>
            </a:r>
          </a:p>
          <a:p>
            <a:endParaRPr lang="en-IN" dirty="0"/>
          </a:p>
          <a:p>
            <a:endParaRPr lang="en-IN" dirty="0"/>
          </a:p>
        </p:txBody>
      </p:sp>
      <p:sp>
        <p:nvSpPr>
          <p:cNvPr id="11" name="Footer Placeholder 2">
            <a:extLst>
              <a:ext uri="{FF2B5EF4-FFF2-40B4-BE49-F238E27FC236}">
                <a16:creationId xmlns:a16="http://schemas.microsoft.com/office/drawing/2014/main" id="{85505740-31D0-4B8F-B93F-9E8CA50A42B9}"/>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893631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9C40C4-03E4-2F4B-0979-F7B4E885B733}"/>
              </a:ext>
            </a:extLst>
          </p:cNvPr>
          <p:cNvSpPr>
            <a:spLocks noGrp="1"/>
          </p:cNvSpPr>
          <p:nvPr>
            <p:ph idx="1"/>
          </p:nvPr>
        </p:nvSpPr>
        <p:spPr/>
        <p:txBody>
          <a:bodyPr>
            <a:normAutofit/>
          </a:bodyPr>
          <a:lstStyle/>
          <a:p>
            <a:pPr marL="0" indent="0">
              <a:buNone/>
            </a:pPr>
            <a:endParaRPr lang="en-IN" sz="1900" dirty="0"/>
          </a:p>
          <a:p>
            <a:pPr marL="0" indent="0">
              <a:buNone/>
            </a:pPr>
            <a:r>
              <a:rPr lang="en-IN" sz="2000" dirty="0"/>
              <a:t>The project will progress from</a:t>
            </a:r>
          </a:p>
          <a:p>
            <a:pPr marL="0" indent="0">
              <a:buNone/>
            </a:pPr>
            <a:r>
              <a:rPr lang="en-IN" sz="2000" dirty="0"/>
              <a:t> </a:t>
            </a:r>
            <a:r>
              <a:rPr lang="en-IN" sz="2000" b="1" dirty="0"/>
              <a:t>data collection → preprocessing → </a:t>
            </a:r>
            <a:r>
              <a:rPr lang="en-IN" sz="2000" b="1" dirty="0" err="1"/>
              <a:t>behavioral</a:t>
            </a:r>
            <a:r>
              <a:rPr lang="en-IN" sz="2000" b="1" dirty="0"/>
              <a:t> profiling → anomaly detection → attack sequence correlation → resource sensitivity analysis → risk scoring → explainability → dashboard integration → testing and evaluation</a:t>
            </a:r>
            <a:r>
              <a:rPr lang="en-IN" sz="2000" dirty="0"/>
              <a:t>.</a:t>
            </a:r>
          </a:p>
          <a:p>
            <a:pPr marL="0" indent="0">
              <a:buNone/>
            </a:pPr>
            <a:r>
              <a:rPr lang="en-IN" sz="2000" dirty="0"/>
              <a:t>The final system will provide a unified approach to insider-threat detection by combining </a:t>
            </a:r>
            <a:r>
              <a:rPr lang="en-IN" sz="2000" dirty="0" err="1"/>
              <a:t>behavioral</a:t>
            </a:r>
            <a:r>
              <a:rPr lang="en-IN" sz="2000" dirty="0"/>
              <a:t> analytics with temporal correlation of suspicious activities. Instead of treating every abnormal event independently, it will </a:t>
            </a:r>
            <a:r>
              <a:rPr lang="en-IN" sz="2000" dirty="0" err="1"/>
              <a:t>analyze</a:t>
            </a:r>
            <a:r>
              <a:rPr lang="en-IN" sz="2000" dirty="0"/>
              <a:t> how activities occur together and assess their potential security impact. This approach is consistent with the project's stated objective of producing more meaningful and actionable insider-threat detection.</a:t>
            </a:r>
          </a:p>
          <a:p>
            <a:endParaRPr lang="en-IN" dirty="0"/>
          </a:p>
        </p:txBody>
      </p:sp>
      <p:sp>
        <p:nvSpPr>
          <p:cNvPr id="4" name="Date Placeholder 3">
            <a:extLst>
              <a:ext uri="{FF2B5EF4-FFF2-40B4-BE49-F238E27FC236}">
                <a16:creationId xmlns:a16="http://schemas.microsoft.com/office/drawing/2014/main" id="{552C7AA0-3EFC-7593-6036-A9FB875EE9FF}"/>
              </a:ext>
            </a:extLst>
          </p:cNvPr>
          <p:cNvSpPr>
            <a:spLocks noGrp="1"/>
          </p:cNvSpPr>
          <p:nvPr>
            <p:ph type="dt" sz="half" idx="10"/>
          </p:nvPr>
        </p:nvSpPr>
        <p:spPr/>
        <p:txBody>
          <a:bodyPr/>
          <a:lstStyle/>
          <a:p>
            <a:fld id="{C7A4DE8B-8D6B-8C46-B882-6A2CD2BC96F0}" type="datetime1">
              <a:rPr lang="en-IN" smtClean="0"/>
              <a:t>31-08-2026</a:t>
            </a:fld>
            <a:endParaRPr lang="en-US"/>
          </a:p>
        </p:txBody>
      </p:sp>
      <p:sp>
        <p:nvSpPr>
          <p:cNvPr id="5" name="Footer Placeholder 4">
            <a:extLst>
              <a:ext uri="{FF2B5EF4-FFF2-40B4-BE49-F238E27FC236}">
                <a16:creationId xmlns:a16="http://schemas.microsoft.com/office/drawing/2014/main" id="{EF2803FE-B1F6-8115-EF6A-FF4EE8E8AFC1}"/>
              </a:ext>
            </a:extLst>
          </p:cNvPr>
          <p:cNvSpPr>
            <a:spLocks noGrp="1"/>
          </p:cNvSpPr>
          <p:nvPr>
            <p:ph type="ftr" sz="quarter" idx="11"/>
          </p:nvPr>
        </p:nvSpPr>
        <p:spPr/>
        <p:txBody>
          <a:bodyPr/>
          <a:lstStyle/>
          <a:p>
            <a:r>
              <a:rPr lang="en-US"/>
              <a:t>REVIEW – 1    Department of CSE</a:t>
            </a:r>
            <a:endParaRPr lang="en-US" dirty="0"/>
          </a:p>
        </p:txBody>
      </p:sp>
      <p:sp>
        <p:nvSpPr>
          <p:cNvPr id="6" name="Slide Number Placeholder 5">
            <a:extLst>
              <a:ext uri="{FF2B5EF4-FFF2-40B4-BE49-F238E27FC236}">
                <a16:creationId xmlns:a16="http://schemas.microsoft.com/office/drawing/2014/main" id="{E9552E9C-BE1D-7212-AD40-4B0E50914D9A}"/>
              </a:ext>
            </a:extLst>
          </p:cNvPr>
          <p:cNvSpPr>
            <a:spLocks noGrp="1"/>
          </p:cNvSpPr>
          <p:nvPr>
            <p:ph type="sldNum" sz="quarter" idx="12"/>
          </p:nvPr>
        </p:nvSpPr>
        <p:spPr/>
        <p:txBody>
          <a:bodyPr/>
          <a:lstStyle/>
          <a:p>
            <a:fld id="{B961B71F-4B40-8942-BB88-E0F5C0B46E10}" type="slidenum">
              <a:rPr lang="en-US" smtClean="0"/>
              <a:t>16</a:t>
            </a:fld>
            <a:endParaRPr lang="en-US"/>
          </a:p>
        </p:txBody>
      </p:sp>
      <p:sp>
        <p:nvSpPr>
          <p:cNvPr id="2" name="TextBox 1">
            <a:extLst>
              <a:ext uri="{FF2B5EF4-FFF2-40B4-BE49-F238E27FC236}">
                <a16:creationId xmlns:a16="http://schemas.microsoft.com/office/drawing/2014/main" id="{B5F13F40-AAC2-6E80-3202-8DB216EF3CF9}"/>
              </a:ext>
            </a:extLst>
          </p:cNvPr>
          <p:cNvSpPr txBox="1"/>
          <p:nvPr/>
        </p:nvSpPr>
        <p:spPr>
          <a:xfrm>
            <a:off x="4038600" y="581770"/>
            <a:ext cx="3165675" cy="769441"/>
          </a:xfrm>
          <a:prstGeom prst="rect">
            <a:avLst/>
          </a:prstGeom>
          <a:noFill/>
        </p:spPr>
        <p:txBody>
          <a:bodyPr wrap="none" rtlCol="0">
            <a:spAutoFit/>
          </a:bodyPr>
          <a:lstStyle/>
          <a:p>
            <a:r>
              <a:rPr lang="en-IN" sz="4400" b="1" dirty="0">
                <a:latin typeface="Times New Roman" panose="02020603050405020304" pitchFamily="18" charset="0"/>
                <a:cs typeface="Times New Roman" panose="02020603050405020304" pitchFamily="18" charset="0"/>
              </a:rPr>
              <a:t>Project Plan</a:t>
            </a:r>
            <a:endParaRPr lang="en-IN" sz="4400" dirty="0"/>
          </a:p>
        </p:txBody>
      </p:sp>
    </p:spTree>
    <p:extLst>
      <p:ext uri="{BB962C8B-B14F-4D97-AF65-F5344CB8AC3E}">
        <p14:creationId xmlns:p14="http://schemas.microsoft.com/office/powerpoint/2010/main" val="796674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B93719B-A971-677D-DB3E-3F30ECAA34A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709CC97-A85F-7FE9-127B-D9A3D4338C74}"/>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9" name="Content Placeholder 8">
            <a:extLst>
              <a:ext uri="{FF2B5EF4-FFF2-40B4-BE49-F238E27FC236}">
                <a16:creationId xmlns:a16="http://schemas.microsoft.com/office/drawing/2014/main" id="{0E914A49-19F6-51A2-7E86-293A5277485B}"/>
              </a:ext>
            </a:extLst>
          </p:cNvPr>
          <p:cNvSpPr>
            <a:spLocks noGrp="1"/>
          </p:cNvSpPr>
          <p:nvPr>
            <p:ph idx="1"/>
          </p:nvPr>
        </p:nvSpPr>
        <p:spPr>
          <a:xfrm>
            <a:off x="717755" y="1858655"/>
            <a:ext cx="10636045" cy="4394999"/>
          </a:xfrm>
        </p:spPr>
        <p:txBody>
          <a:bodyPr>
            <a:normAutofit/>
          </a:bodyPr>
          <a:lstStyle/>
          <a:p>
            <a:pPr marL="0" indent="0">
              <a:buNone/>
            </a:pPr>
            <a:r>
              <a:rPr lang="en-IN" dirty="0"/>
              <a:t>The proposed approach provides a comprehensive insider-threat detection solution by correlating user activities and assessing resource sensitivity to identify meaningful threats. It generates actionable and explainable alerts, helping security analysts understand and respond to detected threats effectively. The system will be implemented and evaluated using real-world insider-threat datasets and relevant performance benchmarks.</a:t>
            </a:r>
            <a:endParaRPr lang="en-US" alt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68B060C3-9089-9B01-F1D8-C97A09A9736A}"/>
              </a:ext>
            </a:extLst>
          </p:cNvPr>
          <p:cNvSpPr>
            <a:spLocks noGrp="1"/>
          </p:cNvSpPr>
          <p:nvPr>
            <p:ph type="dt" sz="half" idx="10"/>
          </p:nvPr>
        </p:nvSpPr>
        <p:spPr/>
        <p:txBody>
          <a:bodyPr/>
          <a:lstStyle/>
          <a:p>
            <a:fld id="{196CB346-A29B-614A-90B7-3F58220E4132}" type="datetime1">
              <a:rPr lang="en-IN" smtClean="0"/>
              <a:t>31-08-2026</a:t>
            </a:fld>
            <a:endParaRPr lang="en-US" dirty="0"/>
          </a:p>
        </p:txBody>
      </p:sp>
      <p:sp>
        <p:nvSpPr>
          <p:cNvPr id="7" name="Slide Number Placeholder 6">
            <a:extLst>
              <a:ext uri="{FF2B5EF4-FFF2-40B4-BE49-F238E27FC236}">
                <a16:creationId xmlns:a16="http://schemas.microsoft.com/office/drawing/2014/main" id="{134082E4-0E3A-87DB-D567-ED1D0DBED5DA}"/>
              </a:ext>
            </a:extLst>
          </p:cNvPr>
          <p:cNvSpPr>
            <a:spLocks noGrp="1"/>
          </p:cNvSpPr>
          <p:nvPr>
            <p:ph type="sldNum" sz="quarter" idx="12"/>
          </p:nvPr>
        </p:nvSpPr>
        <p:spPr/>
        <p:txBody>
          <a:bodyPr/>
          <a:lstStyle/>
          <a:p>
            <a:fld id="{B961B71F-4B40-8942-BB88-E0F5C0B46E10}" type="slidenum">
              <a:rPr lang="en-US" smtClean="0"/>
              <a:t>17</a:t>
            </a:fld>
            <a:endParaRPr lang="en-US"/>
          </a:p>
        </p:txBody>
      </p:sp>
      <p:pic>
        <p:nvPicPr>
          <p:cNvPr id="2" name="Picture 1">
            <a:extLst>
              <a:ext uri="{FF2B5EF4-FFF2-40B4-BE49-F238E27FC236}">
                <a16:creationId xmlns:a16="http://schemas.microsoft.com/office/drawing/2014/main" id="{1564F053-0075-BD19-F8FF-9AAA1B64705D}"/>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2D31941C-C503-4469-8755-454FE6062E3B}"/>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716463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8D4C0B0-C70A-1972-492E-60B0E754146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E10373E-14B1-432C-6627-5102E701E54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9" name="Content Placeholder 8">
            <a:extLst>
              <a:ext uri="{FF2B5EF4-FFF2-40B4-BE49-F238E27FC236}">
                <a16:creationId xmlns:a16="http://schemas.microsoft.com/office/drawing/2014/main" id="{820347CC-6603-A42B-AFAE-07AE7DD492A9}"/>
              </a:ext>
            </a:extLst>
          </p:cNvPr>
          <p:cNvSpPr>
            <a:spLocks noGrp="1"/>
          </p:cNvSpPr>
          <p:nvPr>
            <p:ph idx="1"/>
          </p:nvPr>
        </p:nvSpPr>
        <p:spPr>
          <a:xfrm>
            <a:off x="674814" y="1253719"/>
            <a:ext cx="10515600" cy="5002923"/>
          </a:xfrm>
        </p:spPr>
        <p:txBody>
          <a:bodyPr>
            <a:normAutofit/>
          </a:bodyPr>
          <a:lstStyle/>
          <a:p>
            <a:r>
              <a:rPr lang="en-IN" sz="2000" b="1" dirty="0"/>
              <a:t>Peer-Reviewed Research Papers</a:t>
            </a:r>
          </a:p>
          <a:p>
            <a:pPr marL="0" indent="0">
              <a:buNone/>
            </a:pPr>
            <a:r>
              <a:rPr lang="en-IN" sz="2000" dirty="0"/>
              <a:t>16 peer-reviewed papers covering insider threat detection, user </a:t>
            </a:r>
            <a:r>
              <a:rPr lang="en-IN" sz="2000" dirty="0" err="1"/>
              <a:t>behavioral</a:t>
            </a:r>
            <a:r>
              <a:rPr lang="en-IN" sz="2000" dirty="0"/>
              <a:t> analytics, anomaly detection with machine learning, attack sequence correlation, and explainable AI in cybersecurity contexts. </a:t>
            </a:r>
            <a:r>
              <a:rPr lang="en-IN" sz="2000" i="1" dirty="0"/>
              <a:t>(To be populated with full citations in final submission.)</a:t>
            </a:r>
            <a:endParaRPr lang="en-IN" sz="2000" dirty="0"/>
          </a:p>
          <a:p>
            <a:r>
              <a:rPr lang="en-IN" sz="2000" b="1" dirty="0"/>
              <a:t>Online Learning Resources &amp; Documentation</a:t>
            </a:r>
          </a:p>
          <a:p>
            <a:pPr marL="0" indent="0">
              <a:buNone/>
            </a:pPr>
            <a:r>
              <a:rPr lang="en-IN" sz="2000" dirty="0"/>
              <a:t>Official documentation for machine learning frameworks (scikit-learn, TensorFlow, </a:t>
            </a:r>
            <a:r>
              <a:rPr lang="en-IN" sz="2000" dirty="0" err="1"/>
              <a:t>PyTorch</a:t>
            </a:r>
            <a:r>
              <a:rPr lang="en-IN" sz="2000" dirty="0"/>
              <a:t>), cybersecurity standards (NIST, MITRE ATT&amp;CK), and UEBA platform references.</a:t>
            </a:r>
          </a:p>
          <a:p>
            <a:r>
              <a:rPr lang="en-IN" sz="2000" b="1" dirty="0"/>
              <a:t>GitHub Repositories &amp; Open-Source Tools</a:t>
            </a:r>
          </a:p>
          <a:p>
            <a:pPr marL="0" indent="0">
              <a:buNone/>
            </a:pPr>
            <a:r>
              <a:rPr lang="en-IN" sz="2000" dirty="0"/>
              <a:t>Open-source </a:t>
            </a:r>
            <a:r>
              <a:rPr lang="en-IN" sz="2000" dirty="0" err="1"/>
              <a:t>behavioral</a:t>
            </a:r>
            <a:r>
              <a:rPr lang="en-IN" sz="2000" dirty="0"/>
              <a:t> analytics libraries, insider threat simulation datasets (e.g., CERT Insider Threat Dataset), and temporal correlation algorithm implementations.</a:t>
            </a:r>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69CF12D2-F1DB-33DA-F2D4-36035A1EBE69}"/>
              </a:ext>
            </a:extLst>
          </p:cNvPr>
          <p:cNvSpPr>
            <a:spLocks noGrp="1"/>
          </p:cNvSpPr>
          <p:nvPr>
            <p:ph type="dt" sz="half" idx="10"/>
          </p:nvPr>
        </p:nvSpPr>
        <p:spPr/>
        <p:txBody>
          <a:bodyPr/>
          <a:lstStyle/>
          <a:p>
            <a:fld id="{196CB346-A29B-614A-90B7-3F58220E4132}" type="datetime1">
              <a:rPr lang="en-IN" smtClean="0"/>
              <a:t>31-08-2026</a:t>
            </a:fld>
            <a:endParaRPr lang="en-US" dirty="0"/>
          </a:p>
        </p:txBody>
      </p:sp>
      <p:sp>
        <p:nvSpPr>
          <p:cNvPr id="7" name="Slide Number Placeholder 6">
            <a:extLst>
              <a:ext uri="{FF2B5EF4-FFF2-40B4-BE49-F238E27FC236}">
                <a16:creationId xmlns:a16="http://schemas.microsoft.com/office/drawing/2014/main" id="{68493559-19B2-50D7-BD0E-0D82C2ADBB1E}"/>
              </a:ext>
            </a:extLst>
          </p:cNvPr>
          <p:cNvSpPr>
            <a:spLocks noGrp="1"/>
          </p:cNvSpPr>
          <p:nvPr>
            <p:ph type="sldNum" sz="quarter" idx="12"/>
          </p:nvPr>
        </p:nvSpPr>
        <p:spPr/>
        <p:txBody>
          <a:bodyPr/>
          <a:lstStyle/>
          <a:p>
            <a:fld id="{B961B71F-4B40-8942-BB88-E0F5C0B46E10}" type="slidenum">
              <a:rPr lang="en-US" smtClean="0"/>
              <a:t>18</a:t>
            </a:fld>
            <a:endParaRPr lang="en-US"/>
          </a:p>
        </p:txBody>
      </p:sp>
      <p:pic>
        <p:nvPicPr>
          <p:cNvPr id="2" name="Picture 1">
            <a:extLst>
              <a:ext uri="{FF2B5EF4-FFF2-40B4-BE49-F238E27FC236}">
                <a16:creationId xmlns:a16="http://schemas.microsoft.com/office/drawing/2014/main" id="{D419C462-DC64-15A1-C950-8DE0A0202034}"/>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2D22C802-FAC0-4996-9438-F4455D720586}"/>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1169825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fld id="{D7BE9514-8A25-AD4E-B103-05AD99471A79}" type="datetime1">
              <a:rPr lang="en-IN" smtClean="0"/>
              <a:t>31-08-2026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19</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8" name="Footer Placeholder 2">
            <a:extLst>
              <a:ext uri="{FF2B5EF4-FFF2-40B4-BE49-F238E27FC236}">
                <a16:creationId xmlns:a16="http://schemas.microsoft.com/office/drawing/2014/main" id="{410A2BD5-B048-435C-9BAE-2FCD927007A1}"/>
              </a:ext>
            </a:extLst>
          </p:cNvPr>
          <p:cNvSpPr>
            <a:spLocks noGrp="1"/>
          </p:cNvSpPr>
          <p:nvPr>
            <p:ph type="ftr" sz="quarter" idx="11"/>
          </p:nvPr>
        </p:nvSpPr>
        <p:spPr>
          <a:xfrm>
            <a:off x="4038600" y="6356350"/>
            <a:ext cx="4114800" cy="365125"/>
          </a:xfrm>
        </p:spPr>
        <p:txBody>
          <a:bodyPr/>
          <a:lstStyle/>
          <a:p>
            <a:r>
              <a:rPr lang="en-US" dirty="0"/>
              <a:t>PRC-I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292</TotalTime>
  <Words>3161</Words>
  <Application>Microsoft Office PowerPoint</Application>
  <PresentationFormat>Widescreen</PresentationFormat>
  <Paragraphs>430</Paragraphs>
  <Slides>19</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19</vt:i4>
      </vt:variant>
    </vt:vector>
  </HeadingPairs>
  <TitlesOfParts>
    <vt:vector size="25" baseType="lpstr">
      <vt:lpstr>Arial</vt:lpstr>
      <vt:lpstr>Calibri</vt:lpstr>
      <vt:lpstr>Calibri Light</vt:lpstr>
      <vt:lpstr>Times New Roman</vt:lpstr>
      <vt:lpstr>Office Theme</vt:lpstr>
      <vt:lpstr>Custom Design</vt:lpstr>
      <vt:lpstr>ENGINEERING CAPSTONE PROJECT – 1/INDUSTRIAL INTERNSHIP/ INDUSTRIAL INTERNSHIP PHASE-I Project Review-1 AI-Driven Insider Threat Detection Through Behavioral Analytics and Attack Sequence Correlation</vt:lpstr>
      <vt:lpstr>OUTLINE</vt:lpstr>
      <vt:lpstr>Introduction</vt:lpstr>
      <vt:lpstr>Problem Statement</vt:lpstr>
      <vt:lpstr>Objectives </vt:lpstr>
      <vt:lpstr>PowerPoint Presentation</vt:lpstr>
      <vt:lpstr>PowerPoint Presentation</vt:lpstr>
      <vt:lpstr>PowerPoint Presentation</vt:lpstr>
      <vt:lpstr>PowerPoint Presentation</vt:lpstr>
      <vt:lpstr>PowerPoint Presentation</vt:lpstr>
      <vt:lpstr>PowerPoint Presentation</vt:lpstr>
      <vt:lpstr>Research Gap Identification</vt:lpstr>
      <vt:lpstr>Innovation</vt:lpstr>
      <vt:lpstr> Creativity, and Novelty</vt:lpstr>
      <vt:lpstr>Feasibility</vt:lpstr>
      <vt:lpstr>PowerPoint Presentation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Ketha Purna</cp:lastModifiedBy>
  <cp:revision>199</cp:revision>
  <cp:lastPrinted>2025-06-24T13:51:00Z</cp:lastPrinted>
  <dcterms:created xsi:type="dcterms:W3CDTF">2022-05-20T10:20:00Z</dcterms:created>
  <dcterms:modified xsi:type="dcterms:W3CDTF">2026-08-31T06:33:27Z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8501A877F9FA4B8DAC5FC0ABD71A7E4E_12</vt:lpwstr>
  </property>
  <property fmtid="{D5CDD505-2E9C-101B-9397-08002B2CF9AE}" pid="3" name="KSOProductBuildVer">
    <vt:lpwstr>1033-12.2.0.23196</vt:lpwstr>
  </property>
</Properties>
</file>